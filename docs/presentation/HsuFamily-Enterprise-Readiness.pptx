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ee48a99f9409a" /><Relationship Type="http://schemas.openxmlformats.org/officeDocument/2006/relationships/extended-properties" Target="/docProps/app.xml" Id="Rbd43511b7da240dc" /><Relationship Type="http://schemas.openxmlformats.org/officeDocument/2006/relationships/officeDocument" Target="/ppt/presentation.xml" Id="Ref6ce99037f8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1c6a4d5602432f"/>
  </p:sldMasterIdLst>
  <p:notesMasterIdLst>
    <p:notesMasterId xmlns:r="http://schemas.openxmlformats.org/officeDocument/2006/relationships" r:id="Re00b15cf4f6543da"/>
  </p:notesMasterIdLst>
  <p:sldIdLst>
    <p:sldId xmlns:r="http://schemas.openxmlformats.org/officeDocument/2006/relationships" id="256" r:id="Rfc10993ff0a8476d"/>
    <p:sldId xmlns:r="http://schemas.openxmlformats.org/officeDocument/2006/relationships" id="257" r:id="R3a434781f9f64952"/>
    <p:sldId xmlns:r="http://schemas.openxmlformats.org/officeDocument/2006/relationships" id="258" r:id="R847367cb470d491c"/>
    <p:sldId xmlns:r="http://schemas.openxmlformats.org/officeDocument/2006/relationships" id="259" r:id="R89ca257b87b34db2"/>
    <p:sldId xmlns:r="http://schemas.openxmlformats.org/officeDocument/2006/relationships" id="260" r:id="R99ea59dd10104972"/>
    <p:sldId xmlns:r="http://schemas.openxmlformats.org/officeDocument/2006/relationships" id="261" r:id="R6279b4285ac74072"/>
    <p:sldId xmlns:r="http://schemas.openxmlformats.org/officeDocument/2006/relationships" id="262" r:id="Rc12320ae265f4432"/>
    <p:sldId xmlns:r="http://schemas.openxmlformats.org/officeDocument/2006/relationships" id="263" r:id="Rcc83bbf375904948"/>
    <p:sldId xmlns:r="http://schemas.openxmlformats.org/officeDocument/2006/relationships" id="264" r:id="R01db592c5c894948"/>
    <p:sldId xmlns:r="http://schemas.openxmlformats.org/officeDocument/2006/relationships" id="265" r:id="R45a6ee0005d543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394c93d2e34d6e" /><Relationship Type="http://schemas.openxmlformats.org/officeDocument/2006/relationships/slideMaster" Target="/ppt/slideMasters/slideMaster1.xml" Id="R711c6a4d5602432f" /><Relationship Type="http://schemas.openxmlformats.org/officeDocument/2006/relationships/notesMaster" Target="/ppt/notesMasters/notesMaster1.xml" Id="Re00b15cf4f6543da" /><Relationship Type="http://schemas.openxmlformats.org/officeDocument/2006/relationships/presProps" Target="/ppt/presProps.xml" Id="Rc6f86d385cbe4701" /><Relationship Type="http://schemas.openxmlformats.org/officeDocument/2006/relationships/tableStyles" Target="/ppt/tableStyles.xml" Id="R85b7bae89b8d4541" /><Relationship Type="http://schemas.openxmlformats.org/officeDocument/2006/relationships/slide" Target="/ppt/slides/slide1.xml" Id="Rfc10993ff0a8476d" /><Relationship Type="http://schemas.openxmlformats.org/officeDocument/2006/relationships/slide" Target="/ppt/slides/slide2.xml" Id="R3a434781f9f64952" /><Relationship Type="http://schemas.openxmlformats.org/officeDocument/2006/relationships/slide" Target="/ppt/slides/slide3.xml" Id="R847367cb470d491c" /><Relationship Type="http://schemas.openxmlformats.org/officeDocument/2006/relationships/slide" Target="/ppt/slides/slide4.xml" Id="R89ca257b87b34db2" /><Relationship Type="http://schemas.openxmlformats.org/officeDocument/2006/relationships/slide" Target="/ppt/slides/slide5.xml" Id="R99ea59dd10104972" /><Relationship Type="http://schemas.openxmlformats.org/officeDocument/2006/relationships/slide" Target="/ppt/slides/slide6.xml" Id="R6279b4285ac74072" /><Relationship Type="http://schemas.openxmlformats.org/officeDocument/2006/relationships/slide" Target="/ppt/slides/slide7.xml" Id="Rc12320ae265f4432" /><Relationship Type="http://schemas.openxmlformats.org/officeDocument/2006/relationships/slide" Target="/ppt/slides/slide8.xml" Id="Rcc83bbf375904948" /><Relationship Type="http://schemas.openxmlformats.org/officeDocument/2006/relationships/slide" Target="/ppt/slides/slide9.xml" Id="R01db592c5c894948" /><Relationship Type="http://schemas.openxmlformats.org/officeDocument/2006/relationships/slide" Target="/ppt/slides/slide10.xml" Id="R45a6ee0005d543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265968b21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4884efae7f4fbd" /><Relationship Type="http://schemas.openxmlformats.org/officeDocument/2006/relationships/notesMaster" Target="/ppt/notesMasters/notesMaster1.xml" Id="Rff75a2465169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2bf301706c4c07" /><Relationship Type="http://schemas.openxmlformats.org/officeDocument/2006/relationships/notesMaster" Target="/ppt/notesMasters/notesMaster1.xml" Id="R3d3cbb5177334a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ceaba839144726" /><Relationship Type="http://schemas.openxmlformats.org/officeDocument/2006/relationships/notesMaster" Target="/ppt/notesMasters/notesMaster1.xml" Id="R236b5700e27e41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703254b9ad4c47" /><Relationship Type="http://schemas.openxmlformats.org/officeDocument/2006/relationships/notesMaster" Target="/ppt/notesMasters/notesMaster1.xml" Id="Rccc2511ca5cc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a09dd9f9684725" /><Relationship Type="http://schemas.openxmlformats.org/officeDocument/2006/relationships/notesMaster" Target="/ppt/notesMasters/notesMaster1.xml" Id="R10f26e97168246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6c8a3b83b4c46" /><Relationship Type="http://schemas.openxmlformats.org/officeDocument/2006/relationships/notesMaster" Target="/ppt/notesMasters/notesMaster1.xml" Id="R20fbb4776a7f4a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89240bdcf4eea" /><Relationship Type="http://schemas.openxmlformats.org/officeDocument/2006/relationships/notesMaster" Target="/ppt/notesMasters/notesMaster1.xml" Id="Rcf7d0390753a4c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16099806df4c38" /><Relationship Type="http://schemas.openxmlformats.org/officeDocument/2006/relationships/notesMaster" Target="/ppt/notesMasters/notesMaster1.xml" Id="R4bb51b73609544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4142a5fa3248f7" /><Relationship Type="http://schemas.openxmlformats.org/officeDocument/2006/relationships/notesMaster" Target="/ppt/notesMasters/notesMaster1.xml" Id="R07320dfe17bd4b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37ad04496b44ae" /><Relationship Type="http://schemas.openxmlformats.org/officeDocument/2006/relationships/notesMaster" Target="/ppt/notesMasters/notesMaster1.xml" Id="Rf508d08cb17a46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開場：這份簡報回答兩件事：程式碼是否具企業級思維，以及還缺哪些正式上線條件。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docs/README.md</a:t>
            </a:r>
          </a:p>
          <a:p xmlns:a="http://schemas.openxmlformats.org/drawingml/2006/main">
            <a:r>
              <a:t>- Internal: docs/01-管理摘要.md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結論要精準：本次完成的是程式碼與工程基線，不把尚未完成的正式環境驗收包裝成已認證。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docs/01-管理摘要.md</a:t>
            </a:r>
          </a:p>
          <a:p xmlns:a="http://schemas.openxmlformats.org/drawingml/2006/main">
            <a:r>
              <a:t>- Internal: docs/05-企業級成熟度與後續路線圖.md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架構依賴由自動化測試守門，前後端技術棧均維持專案既定選型。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docs/02-系統與架構全覽.md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高風險控制均能對應測試或組態檢查，包含 Cookie、CSRF、refresh rotation、SignalR 與 Mongo 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docs/03-安全風險與修復台帳.md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工作階段安全採多層控制；Web Locks 避免多分頁同時 refresh 造成誤判。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docs/03-安全風險與修復台帳.md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已清除 NuGet 已知漏洞；前端生產依賴沒有 High／Critical。正式 TLS 與 Secret Manager 仍屬環境責任。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https://github.com/advisories/GHSA-v5pm-xwqc-g5wc</a:t>
            </a:r>
          </a:p>
          <a:p xmlns:a="http://schemas.openxmlformats.org/drawingml/2006/main">
            <a:r>
              <a:t>- https://github.com/advisories/GHSA-pggp-6c3x-2xmx</a:t>
            </a:r>
          </a:p>
          <a:p xmlns:a="http://schemas.openxmlformats.org/drawingml/2006/main">
            <a:r>
              <a:t>- https://github.com/advisories/GHSA-6c8g-7p36-r338</a:t>
            </a:r>
          </a:p>
          <a:p xmlns:a="http://schemas.openxmlformats.org/drawingml/2006/main">
            <a:r>
              <a:t>- Internal: docs/04-部署與維運手冊.md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本機最終證據：後端 158/158、前端 54/54、ESLint 與 Next.js build 通過；CI 已加入同等閘門。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https://learn.microsoft.com/dotnet/core/testing/microsoft-testing-platform-code-coverage</a:t>
            </a:r>
          </a:p>
          <a:p xmlns:a="http://schemas.openxmlformats.org/drawingml/2006/main">
            <a:r>
              <a:t>- https://xunit.net/docs/getting-started/v3/microsoft-testing-platform</a:t>
            </a:r>
          </a:p>
          <a:p xmlns:a="http://schemas.openxmlformats.org/drawingml/2006/main">
            <a:r>
              <a:t>- Internal: docs/07-Skills全面自檢報告.md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剩餘項目不是已知程式碼漏洞，而是必須在正式環境與組織制度中落地的控制。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docs/03-安全風險與修復台帳.md</a:t>
            </a:r>
          </a:p>
          <a:p xmlns:a="http://schemas.openxmlformats.org/drawingml/2006/main">
            <a:r>
              <a:t>- Internal: docs/05-企業級成熟度與後續路線圖.md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 是上線條件；P1 與 P2 將可運行系統提升為可持續治理的服務。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docs/05-企業級成熟度與後續路線圖.md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建議核准環境建置，但正式上線必須以 P0 證據完成為前提。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docs/01-管理摘要.md</a:t>
            </a:r>
          </a:p>
          <a:p xmlns:a="http://schemas.openxmlformats.org/drawingml/2006/main">
            <a:r>
              <a:t>- Internal: docs/05-企業級成熟度與後續路線圖.md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d2fd015ec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684e1581fa4f18" /><Relationship Type="http://schemas.openxmlformats.org/officeDocument/2006/relationships/slideLayout" Target="/ppt/slideLayouts/slideLayout1.xml" Id="R5fd227c515ae44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d227c515ae44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4065bfc3a4dc5" /><Relationship Type="http://schemas.openxmlformats.org/officeDocument/2006/relationships/notesSlide" Target="/ppt/notesSlides/notesSlide1.xml" Id="R02102cf9ecef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d0bf0bff746b6" /><Relationship Type="http://schemas.openxmlformats.org/officeDocument/2006/relationships/notesSlide" Target="/ppt/notesSlides/notesSlide2.xml" Id="Rd3b4f14124b145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4c24d2f704abb" /><Relationship Type="http://schemas.openxmlformats.org/officeDocument/2006/relationships/notesSlide" Target="/ppt/notesSlides/notesSlide3.xml" Id="R709813a8a63d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5a92569754e2a" /><Relationship Type="http://schemas.openxmlformats.org/officeDocument/2006/relationships/notesSlide" Target="/ppt/notesSlides/notesSlide4.xml" Id="R6e058ebd66d642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f7fed92a74dee" /><Relationship Type="http://schemas.openxmlformats.org/officeDocument/2006/relationships/notesSlide" Target="/ppt/notesSlides/notesSlide5.xml" Id="Rcfe861b2cd684d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ddc70684b4656" /><Relationship Type="http://schemas.openxmlformats.org/officeDocument/2006/relationships/notesSlide" Target="/ppt/notesSlides/notesSlide6.xml" Id="R4e0a65ecd1124c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56a77a2da4916" /><Relationship Type="http://schemas.openxmlformats.org/officeDocument/2006/relationships/notesSlide" Target="/ppt/notesSlides/notesSlide7.xml" Id="R258a8207e45b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b817ade834f87" /><Relationship Type="http://schemas.openxmlformats.org/officeDocument/2006/relationships/notesSlide" Target="/ppt/notesSlides/notesSlide8.xml" Id="Rfd347f0145834a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13558cf3e44cb" /><Relationship Type="http://schemas.openxmlformats.org/officeDocument/2006/relationships/notesSlide" Target="/ppt/notesSlides/notesSlide9.xml" Id="Rbea24e6d970c42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e3057b91d4d76" /><Relationship Type="http://schemas.openxmlformats.org/officeDocument/2006/relationships/notesSlide" Target="/ppt/notesSlides/notesSlide10.xml" Id="R1c45904e75d643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C713D5A-1679-4CEC-8396-56999532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FB950"/>
                </a:solidFill>
              </a:defRPr>
            </a:pPr>
            <a:r>
              <a:rPr sz="1200" b="1">
                <a:solidFill>
                  <a:srgbClr val="3FB950"/>
                </a:solidFill>
              </a:rPr>
              <a:t>OPEN DESIGN · EXECUTIVE BRIEFING</a:t>
            </a:r>
          </a:p>
        </p:txBody>
      </p:sp>
      <p:sp>
        <p:nvSpPr>
          <p:cNvPr id="2" name="cover">
            <a:extLst xmlns:a="http://schemas.openxmlformats.org/drawingml/2006/main">
              <a:ext uri="{FF2B5EF4-FFF2-40B4-BE49-F238E27FC236}">
                <a16:creationId xmlns:a16="http://schemas.microsoft.com/office/drawing/2014/main" id="{562DBB0E-0286-452A-A254-7AD1140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許氏入口網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企業級工程與安全治理成果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6C4D81E5-7A31-41D8-AEE3-3DA83DE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B1BAC4"/>
                </a:solidFill>
              </a:defRPr>
            </a:pPr>
            <a:r>
              <a:rPr sz="1875" b="0">
                <a:solidFill>
                  <a:srgbClr val="B1BAC4"/>
                </a:solidFill>
              </a:rPr>
              <a:t>從「功能可用」提升為「可治理、可驗證、可持續改善」的產品基線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EC40023B-D071-4FD5-89EC-700663B1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te">
            <a:extLst xmlns:a="http://schemas.openxmlformats.org/drawingml/2006/main">
              <a:ext uri="{FF2B5EF4-FFF2-40B4-BE49-F238E27FC236}">
                <a16:creationId xmlns:a16="http://schemas.microsoft.com/office/drawing/2014/main" id="{0CC7F657-082C-475E-B566-66BFD094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C959F"/>
                </a:solidFill>
              </a:defRPr>
            </a:pPr>
            <a:r>
              <a:rPr sz="1350" b="0">
                <a:solidFill>
                  <a:srgbClr val="8C959F"/>
                </a:solidFill>
              </a:rPr>
              <a:t>管理簡報｜2026-07-24｜完整本機驗證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47B0620-8506-4B8E-BE1E-7FCE79A1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C959F"/>
                </a:solidFill>
              </a:defRPr>
            </a:pPr>
            <a:r>
              <a:rPr sz="1050" b="0">
                <a:solidFill>
                  <a:srgbClr val="8C959F"/>
                </a:solidFill>
              </a:rPr>
              <a:t>Repository: github.com/helloapple080/HsuFamily</a:t>
            </a:r>
          </a:p>
        </p:txBody>
      </p:sp>
    </p:spTree>
    <p:extLst>
      <p:ext uri="{BB962C8B-B14F-4D97-AF65-F5344CB8AC3E}">
        <p14:creationId xmlns:p14="http://schemas.microsoft.com/office/powerpoint/2010/main" val="139216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AE7416CF-2DB8-455A-88A2-B325C971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EXECUTIVE ANSWER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962E7B-AF1D-4213-9EF0-F92C8AF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結論：已具備企業級思維，但上線仍需環境驗收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E3EDD94-7298-4FBF-9D46-D8E71B8F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DBC265B-A3D5-4DF7-8FE5-6B61B02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4416A9-C395-435F-A6BB-DF0C054C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02</a:t>
            </a:r>
          </a:p>
        </p:txBody>
      </p:sp>
      <p:sp>
        <p:nvSpPr>
          <p:cNvPr id="6" name="claim">
            <a:extLst xmlns:a="http://schemas.openxmlformats.org/drawingml/2006/main">
              <a:ext uri="{FF2B5EF4-FFF2-40B4-BE49-F238E27FC236}">
                <a16:creationId xmlns:a16="http://schemas.microsoft.com/office/drawing/2014/main" id="{97684A72-C3C0-49D2-B377-09704C88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4"/>
          </a:solidFill>
          <a:ln xmlns:a="http://schemas.openxmlformats.org/drawingml/2006/main" w="9525">
            <a:solidFill>
              <a:srgbClr val="2DA44E"/>
            </a:solidFill>
            <a:prstDash val="solid"/>
          </a:ln>
        </p:spPr>
      </p:sp>
      <p:sp>
        <p:nvSpPr>
          <p:cNvPr id="7" name="claimtext">
            <a:extLst xmlns:a="http://schemas.openxmlformats.org/drawingml/2006/main">
              <a:ext uri="{FF2B5EF4-FFF2-40B4-BE49-F238E27FC236}">
                <a16:creationId xmlns:a16="http://schemas.microsoft.com/office/drawing/2014/main" id="{69677B06-B5C6-4184-A36D-1E003503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1117"/>
                </a:solidFill>
              </a:defRPr>
            </a:pPr>
            <a:r>
              <a:rPr sz="2250" b="1">
                <a:solidFill>
                  <a:srgbClr val="0D1117"/>
                </a:solidFill>
              </a:rPr>
              <a:t>程式碼已具備分層架構、預設安全、自動測試與可重現部署；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D1117"/>
                </a:solidFill>
              </a:defRPr>
            </a:pPr>
            <a:r>
              <a:rPr sz="2250" b="1">
                <a:solidFill>
                  <a:srgbClr val="0D1117"/>
                </a:solidFill>
              </a:rPr>
              <a:t>風險重心已從明顯漏洞轉向正式環境與營運治理。</a:t>
            </a:r>
          </a:p>
        </p:txBody>
      </p:sp>
      <p:sp>
        <p:nvSpPr>
          <p:cNvPr id="8" name="metric-企業級工程思維">
            <a:extLst xmlns:a="http://schemas.openxmlformats.org/drawingml/2006/main">
              <a:ext uri="{FF2B5EF4-FFF2-40B4-BE49-F238E27FC236}">
                <a16:creationId xmlns:a16="http://schemas.microsoft.com/office/drawing/2014/main" id="{10AFDD2E-9B7A-4D57-93A6-497E8371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9" name="mv-企業級工程思維">
            <a:extLst xmlns:a="http://schemas.openxmlformats.org/drawingml/2006/main">
              <a:ext uri="{FF2B5EF4-FFF2-40B4-BE49-F238E27FC236}">
                <a16:creationId xmlns:a16="http://schemas.microsoft.com/office/drawing/2014/main" id="{34F88726-56D7-4E76-80A1-8FF6D826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F883D"/>
                </a:solidFill>
              </a:defRPr>
            </a:pPr>
            <a:r>
              <a:rPr sz="3300" b="1">
                <a:solidFill>
                  <a:srgbClr val="1F883D"/>
                </a:solidFill>
              </a:rPr>
              <a:t>已具備</a:t>
            </a:r>
          </a:p>
        </p:txBody>
      </p:sp>
      <p:sp>
        <p:nvSpPr>
          <p:cNvPr id="10" name="ml-企業級工程思維">
            <a:extLst xmlns:a="http://schemas.openxmlformats.org/drawingml/2006/main">
              <a:ext uri="{FF2B5EF4-FFF2-40B4-BE49-F238E27FC236}">
                <a16:creationId xmlns:a16="http://schemas.microsoft.com/office/drawing/2014/main" id="{4F521DBF-1314-4F7F-B3BB-DA55067D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606A"/>
                </a:solidFill>
              </a:defRPr>
            </a:pPr>
            <a:r>
              <a:rPr sz="1350" b="1">
                <a:solidFill>
                  <a:srgbClr val="57606A"/>
                </a:solidFill>
              </a:rPr>
              <a:t>企業級工程思維</a:t>
            </a:r>
          </a:p>
        </p:txBody>
      </p:sp>
      <p:sp>
        <p:nvSpPr>
          <p:cNvPr id="11" name="metric-程式碼安全基線">
            <a:extLst xmlns:a="http://schemas.openxmlformats.org/drawingml/2006/main">
              <a:ext uri="{FF2B5EF4-FFF2-40B4-BE49-F238E27FC236}">
                <a16:creationId xmlns:a16="http://schemas.microsoft.com/office/drawing/2014/main" id="{28DEA1E9-2F21-4FD3-A890-DFA7325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2" name="mv-程式碼安全基線">
            <a:extLst xmlns:a="http://schemas.openxmlformats.org/drawingml/2006/main">
              <a:ext uri="{FF2B5EF4-FFF2-40B4-BE49-F238E27FC236}">
                <a16:creationId xmlns:a16="http://schemas.microsoft.com/office/drawing/2014/main" id="{3FDABF60-4360-403C-81D0-E9D76A78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528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969DA"/>
                </a:solidFill>
              </a:defRPr>
            </a:pPr>
            <a:r>
              <a:rPr sz="3300" b="1">
                <a:solidFill>
                  <a:srgbClr val="0969DA"/>
                </a:solidFill>
              </a:rPr>
              <a:t>已建立</a:t>
            </a:r>
          </a:p>
        </p:txBody>
      </p:sp>
      <p:sp>
        <p:nvSpPr>
          <p:cNvPr id="13" name="ml-程式碼安全基線">
            <a:extLst xmlns:a="http://schemas.openxmlformats.org/drawingml/2006/main">
              <a:ext uri="{FF2B5EF4-FFF2-40B4-BE49-F238E27FC236}">
                <a16:creationId xmlns:a16="http://schemas.microsoft.com/office/drawing/2014/main" id="{36B2D52C-E527-4549-A69E-085E940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957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606A"/>
                </a:solidFill>
              </a:defRPr>
            </a:pPr>
            <a:r>
              <a:rPr sz="1350" b="1">
                <a:solidFill>
                  <a:srgbClr val="57606A"/>
                </a:solidFill>
              </a:rPr>
              <a:t>程式碼安全基線</a:t>
            </a:r>
          </a:p>
        </p:txBody>
      </p:sp>
      <p:sp>
        <p:nvSpPr>
          <p:cNvPr id="14" name="metric-正式上線認證">
            <a:extLst xmlns:a="http://schemas.openxmlformats.org/drawingml/2006/main">
              <a:ext uri="{FF2B5EF4-FFF2-40B4-BE49-F238E27FC236}">
                <a16:creationId xmlns:a16="http://schemas.microsoft.com/office/drawing/2014/main" id="{9BECCBBE-CB8E-48F6-B644-369AE31B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5" name="mv-正式上線認證">
            <a:extLst xmlns:a="http://schemas.openxmlformats.org/drawingml/2006/main">
              <a:ext uri="{FF2B5EF4-FFF2-40B4-BE49-F238E27FC236}">
                <a16:creationId xmlns:a16="http://schemas.microsoft.com/office/drawing/2014/main" id="{9486DC98-336B-4291-8C4F-482B45AA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528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BF8700"/>
                </a:solidFill>
              </a:defRPr>
            </a:pPr>
            <a:r>
              <a:rPr sz="3300" b="1">
                <a:solidFill>
                  <a:srgbClr val="BF8700"/>
                </a:solidFill>
              </a:rPr>
              <a:t>待驗收</a:t>
            </a:r>
          </a:p>
        </p:txBody>
      </p:sp>
      <p:sp>
        <p:nvSpPr>
          <p:cNvPr id="16" name="ml-正式上線認證">
            <a:extLst xmlns:a="http://schemas.openxmlformats.org/drawingml/2006/main">
              <a:ext uri="{FF2B5EF4-FFF2-40B4-BE49-F238E27FC236}">
                <a16:creationId xmlns:a16="http://schemas.microsoft.com/office/drawing/2014/main" id="{880E2BE0-657C-4718-A97A-63AEA139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1957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606A"/>
                </a:solidFill>
              </a:defRPr>
            </a:pPr>
            <a:r>
              <a:rPr sz="1350" b="1">
                <a:solidFill>
                  <a:srgbClr val="57606A"/>
                </a:solidFill>
              </a:rPr>
              <a:t>正式上線認證</a:t>
            </a:r>
          </a:p>
        </p:txBody>
      </p:sp>
      <p:sp>
        <p:nvSpPr>
          <p:cNvPr id="17" name="note">
            <a:extLst xmlns:a="http://schemas.openxmlformats.org/drawingml/2006/main">
              <a:ext uri="{FF2B5EF4-FFF2-40B4-BE49-F238E27FC236}">
                <a16:creationId xmlns:a16="http://schemas.microsoft.com/office/drawing/2014/main" id="{8469238E-BCF9-4299-925D-6E65DA86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管理意義：不需重寫技術棧；正式上線投資聚焦 TLS、秘密管理、監控、備援與治理。</a:t>
            </a:r>
          </a:p>
        </p:txBody>
      </p:sp>
    </p:spTree>
    <p:extLst>
      <p:ext uri="{BB962C8B-B14F-4D97-AF65-F5344CB8AC3E}">
        <p14:creationId xmlns:p14="http://schemas.microsoft.com/office/powerpoint/2010/main" val="1591558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A2C1CA4E-7F20-413F-8591-CAA1FBD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6D6902-9FBF-49EF-A595-4FA8F149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現代架構讓功能、安全與維護責任有清楚邊界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57CB313-116F-4D62-961B-39BB8ECC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8D5FE89-B67E-4259-A192-B728081C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4E48F42-EF19-48A8-BD68-D4D686B9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03</a:t>
            </a:r>
          </a:p>
        </p:txBody>
      </p:sp>
      <p:sp>
        <p:nvSpPr>
          <p:cNvPr id="6" name="arch0">
            <a:extLst xmlns:a="http://schemas.openxmlformats.org/drawingml/2006/main">
              <a:ext uri="{FF2B5EF4-FFF2-40B4-BE49-F238E27FC236}">
                <a16:creationId xmlns:a16="http://schemas.microsoft.com/office/drawing/2014/main" id="{35321D1E-3132-40F5-A66E-6485A5C1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7" name="at0">
            <a:extLst xmlns:a="http://schemas.openxmlformats.org/drawingml/2006/main">
              <a:ext uri="{FF2B5EF4-FFF2-40B4-BE49-F238E27FC236}">
                <a16:creationId xmlns:a16="http://schemas.microsoft.com/office/drawing/2014/main" id="{E189024E-AB05-4385-AFD8-18BE8171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Next.js 16</a:t>
            </a:r>
          </a:p>
        </p:txBody>
      </p:sp>
      <p:sp>
        <p:nvSpPr>
          <p:cNvPr id="8" name="ad0">
            <a:extLst xmlns:a="http://schemas.openxmlformats.org/drawingml/2006/main">
              <a:ext uri="{FF2B5EF4-FFF2-40B4-BE49-F238E27FC236}">
                <a16:creationId xmlns:a16="http://schemas.microsoft.com/office/drawing/2014/main" id="{ACD75110-C854-4A77-8220-DD6977C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使用者介面</a:t>
            </a:r>
          </a:p>
        </p:txBody>
      </p:sp>
      <p:sp>
        <p:nvSpPr>
          <p:cNvPr id="9" name="arch1">
            <a:extLst xmlns:a="http://schemas.openxmlformats.org/drawingml/2006/main">
              <a:ext uri="{FF2B5EF4-FFF2-40B4-BE49-F238E27FC236}">
                <a16:creationId xmlns:a16="http://schemas.microsoft.com/office/drawing/2014/main" id="{C0EDCB2C-9889-4525-8845-011D405D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0" name="at1">
            <a:extLst xmlns:a="http://schemas.openxmlformats.org/drawingml/2006/main">
              <a:ext uri="{FF2B5EF4-FFF2-40B4-BE49-F238E27FC236}">
                <a16:creationId xmlns:a16="http://schemas.microsoft.com/office/drawing/2014/main" id="{0DFD12FA-723C-41CE-B743-03DCF1DC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ASP.NET Core 10</a:t>
            </a:r>
          </a:p>
        </p:txBody>
      </p:sp>
      <p:sp>
        <p:nvSpPr>
          <p:cNvPr id="11" name="ad1">
            <a:extLst xmlns:a="http://schemas.openxmlformats.org/drawingml/2006/main">
              <a:ext uri="{FF2B5EF4-FFF2-40B4-BE49-F238E27FC236}">
                <a16:creationId xmlns:a16="http://schemas.microsoft.com/office/drawing/2014/main" id="{BD351D84-C636-4883-BA83-1ACEACA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API／授權</a:t>
            </a:r>
          </a:p>
        </p:txBody>
      </p:sp>
      <p:sp>
        <p:nvSpPr>
          <p:cNvPr id="12" name="arch2">
            <a:extLst xmlns:a="http://schemas.openxmlformats.org/drawingml/2006/main">
              <a:ext uri="{FF2B5EF4-FFF2-40B4-BE49-F238E27FC236}">
                <a16:creationId xmlns:a16="http://schemas.microsoft.com/office/drawing/2014/main" id="{8C285F66-C614-4A77-88B5-4CF6D94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3" name="at2">
            <a:extLst xmlns:a="http://schemas.openxmlformats.org/drawingml/2006/main">
              <a:ext uri="{FF2B5EF4-FFF2-40B4-BE49-F238E27FC236}">
                <a16:creationId xmlns:a16="http://schemas.microsoft.com/office/drawing/2014/main" id="{77FC9A21-D0CA-4F45-A995-807C204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Application</a:t>
            </a:r>
          </a:p>
        </p:txBody>
      </p:sp>
      <p:sp>
        <p:nvSpPr>
          <p:cNvPr id="14" name="ad2">
            <a:extLst xmlns:a="http://schemas.openxmlformats.org/drawingml/2006/main">
              <a:ext uri="{FF2B5EF4-FFF2-40B4-BE49-F238E27FC236}">
                <a16:creationId xmlns:a16="http://schemas.microsoft.com/office/drawing/2014/main" id="{1558AEF8-8119-4FAB-B361-339B3608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業務契約</a:t>
            </a:r>
          </a:p>
        </p:txBody>
      </p:sp>
      <p:sp>
        <p:nvSpPr>
          <p:cNvPr id="15" name="arch3">
            <a:extLst xmlns:a="http://schemas.openxmlformats.org/drawingml/2006/main">
              <a:ext uri="{FF2B5EF4-FFF2-40B4-BE49-F238E27FC236}">
                <a16:creationId xmlns:a16="http://schemas.microsoft.com/office/drawing/2014/main" id="{A97B463A-CD98-4905-AA0E-E38DF842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4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6" name="at3">
            <a:extLst xmlns:a="http://schemas.openxmlformats.org/drawingml/2006/main">
              <a:ext uri="{FF2B5EF4-FFF2-40B4-BE49-F238E27FC236}">
                <a16:creationId xmlns:a16="http://schemas.microsoft.com/office/drawing/2014/main" id="{82637E06-0E8D-4857-ABD6-B8CD084C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Domain</a:t>
            </a:r>
          </a:p>
        </p:txBody>
      </p:sp>
      <p:sp>
        <p:nvSpPr>
          <p:cNvPr id="17" name="ad3">
            <a:extLst xmlns:a="http://schemas.openxmlformats.org/drawingml/2006/main">
              <a:ext uri="{FF2B5EF4-FFF2-40B4-BE49-F238E27FC236}">
                <a16:creationId xmlns:a16="http://schemas.microsoft.com/office/drawing/2014/main" id="{B8FB47C9-F532-43B8-A056-0354C84A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核心模型</a:t>
            </a:r>
          </a:p>
        </p:txBody>
      </p:sp>
      <p:sp>
        <p:nvSpPr>
          <p:cNvPr id="18" name="arch4">
            <a:extLst xmlns:a="http://schemas.openxmlformats.org/drawingml/2006/main">
              <a:ext uri="{FF2B5EF4-FFF2-40B4-BE49-F238E27FC236}">
                <a16:creationId xmlns:a16="http://schemas.microsoft.com/office/drawing/2014/main" id="{FE809468-B121-40B1-9E91-33E0DA8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71875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9" name="at4">
            <a:extLst xmlns:a="http://schemas.openxmlformats.org/drawingml/2006/main">
              <a:ext uri="{FF2B5EF4-FFF2-40B4-BE49-F238E27FC236}">
                <a16:creationId xmlns:a16="http://schemas.microsoft.com/office/drawing/2014/main" id="{8F6D4DD3-A7B5-48ED-A22E-6319D9CC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Infrastructure</a:t>
            </a:r>
          </a:p>
        </p:txBody>
      </p:sp>
      <p:sp>
        <p:nvSpPr>
          <p:cNvPr id="20" name="ad4">
            <a:extLst xmlns:a="http://schemas.openxmlformats.org/drawingml/2006/main">
              <a:ext uri="{FF2B5EF4-FFF2-40B4-BE49-F238E27FC236}">
                <a16:creationId xmlns:a16="http://schemas.microsoft.com/office/drawing/2014/main" id="{3BB42AB0-0E43-4B40-A715-64D164F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Mongo／JWT／SignalR</a:t>
            </a:r>
          </a:p>
        </p:txBody>
      </p:sp>
      <p:sp>
        <p:nvSpPr>
          <p:cNvPr id="21" name="arch5">
            <a:extLst xmlns:a="http://schemas.openxmlformats.org/drawingml/2006/main">
              <a:ext uri="{FF2B5EF4-FFF2-40B4-BE49-F238E27FC236}">
                <a16:creationId xmlns:a16="http://schemas.microsoft.com/office/drawing/2014/main" id="{52A48D18-E11C-4058-A1E3-2B15BFF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71875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22" name="at5">
            <a:extLst xmlns:a="http://schemas.openxmlformats.org/drawingml/2006/main">
              <a:ext uri="{FF2B5EF4-FFF2-40B4-BE49-F238E27FC236}">
                <a16:creationId xmlns:a16="http://schemas.microsoft.com/office/drawing/2014/main" id="{50A0D8EC-555C-4FC6-A1CF-1E1522E2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MongoDB 7</a:t>
            </a:r>
          </a:p>
        </p:txBody>
      </p:sp>
      <p:sp>
        <p:nvSpPr>
          <p:cNvPr id="23" name="ad5">
            <a:extLst xmlns:a="http://schemas.openxmlformats.org/drawingml/2006/main">
              <a:ext uri="{FF2B5EF4-FFF2-40B4-BE49-F238E27FC236}">
                <a16:creationId xmlns:a16="http://schemas.microsoft.com/office/drawing/2014/main" id="{54666677-1002-48A0-99F5-CC7270F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95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資料保存</a:t>
            </a:r>
          </a:p>
        </p:txBody>
      </p:sp>
      <p:sp>
        <p:nvSpPr>
          <p:cNvPr id="24" name="flow">
            <a:extLst xmlns:a="http://schemas.openxmlformats.org/drawingml/2006/main">
              <a:ext uri="{FF2B5EF4-FFF2-40B4-BE49-F238E27FC236}">
                <a16:creationId xmlns:a16="http://schemas.microsoft.com/office/drawing/2014/main" id="{03103F96-5167-4995-871B-1FF81003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883D"/>
                </a:solidFill>
              </a:defRPr>
            </a:pPr>
            <a:r>
              <a:rPr sz="1575" b="1">
                <a:solidFill>
                  <a:srgbClr val="1F883D"/>
                </a:solidFill>
              </a:rPr>
              <a:t>依賴方向：Domain 無外部依賴 → Application 定義介面 → Infrastructure 實作 → API 組裝</a:t>
            </a:r>
          </a:p>
        </p:txBody>
      </p:sp>
    </p:spTree>
    <p:extLst>
      <p:ext uri="{BB962C8B-B14F-4D97-AF65-F5344CB8AC3E}">
        <p14:creationId xmlns:p14="http://schemas.microsoft.com/office/powerpoint/2010/main" val="2003478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">
            <a:extLst xmlns:a="http://schemas.openxmlformats.org/drawingml/2006/main">
              <a:ext uri="{FF2B5EF4-FFF2-40B4-BE49-F238E27FC236}">
                <a16:creationId xmlns:a16="http://schemas.microsoft.com/office/drawing/2014/main" id="{D5CA5F99-E592-45CE-8709-A2D5E6F8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SECURITY TRANSFORMATION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4A86C5-150B-4B8F-88C5-EC4CE21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高風險已被轉換成可驗證的防護控制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3CD8BD1-FCD2-4730-86C5-1806A36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6B40EDF-39F5-471D-9E6C-68FAE03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BCCF554-ABB9-4E8E-92D4-ADC7AEB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04</a:t>
            </a:r>
          </a:p>
        </p:txBody>
      </p:sp>
      <p:sp>
        <p:nvSpPr>
          <p:cNvPr id="6" name="before">
            <a:extLst xmlns:a="http://schemas.openxmlformats.org/drawingml/2006/main">
              <a:ext uri="{FF2B5EF4-FFF2-40B4-BE49-F238E27FC236}">
                <a16:creationId xmlns:a16="http://schemas.microsoft.com/office/drawing/2014/main" id="{30A70A13-97EF-4F3F-8B2F-5FA246F1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F222E"/>
                </a:solidFill>
              </a:defRPr>
            </a:pPr>
            <a:r>
              <a:rPr sz="1500" b="1">
                <a:solidFill>
                  <a:srgbClr val="CF222E"/>
                </a:solidFill>
              </a:rPr>
              <a:t>改善前風險</a:t>
            </a:r>
          </a:p>
        </p:txBody>
      </p:sp>
      <p:sp>
        <p:nvSpPr>
          <p:cNvPr id="7" name="after">
            <a:extLst xmlns:a="http://schemas.openxmlformats.org/drawingml/2006/main">
              <a:ext uri="{FF2B5EF4-FFF2-40B4-BE49-F238E27FC236}">
                <a16:creationId xmlns:a16="http://schemas.microsoft.com/office/drawing/2014/main" id="{A1C07570-A2BB-4FAF-AD27-03E06B79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883D"/>
                </a:solidFill>
              </a:defRPr>
            </a:pPr>
            <a:r>
              <a:rPr sz="1500" b="1">
                <a:solidFill>
                  <a:srgbClr val="1F883D"/>
                </a:solidFill>
              </a:rPr>
              <a:t>目前控制</a:t>
            </a:r>
          </a:p>
        </p:txBody>
      </p:sp>
      <p:sp>
        <p:nvSpPr>
          <p:cNvPr id="8" name="r0">
            <a:extLst xmlns:a="http://schemas.openxmlformats.org/drawingml/2006/main">
              <a:ext uri="{FF2B5EF4-FFF2-40B4-BE49-F238E27FC236}">
                <a16:creationId xmlns:a16="http://schemas.microsoft.com/office/drawing/2014/main" id="{027BC968-B664-4592-9EEE-12475809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Token 可被腳本讀取</a:t>
            </a:r>
          </a:p>
        </p:txBody>
      </p:sp>
      <p:sp>
        <p:nvSpPr>
          <p:cNvPr id="9" name="arrow0">
            <a:extLst xmlns:a="http://schemas.openxmlformats.org/drawingml/2006/main">
              <a:ext uri="{FF2B5EF4-FFF2-40B4-BE49-F238E27FC236}">
                <a16:creationId xmlns:a16="http://schemas.microsoft.com/office/drawing/2014/main" id="{DFF9C436-ED62-419F-9049-B5F4FE2C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955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7606A"/>
                </a:solidFill>
              </a:defRPr>
            </a:pPr>
            <a:r>
              <a:rPr sz="1800" b="1">
                <a:solidFill>
                  <a:srgbClr val="57606A"/>
                </a:solidFill>
              </a:rPr>
              <a:t>→</a:t>
            </a:r>
          </a:p>
        </p:txBody>
      </p:sp>
      <p:sp>
        <p:nvSpPr>
          <p:cNvPr id="10" name="c0">
            <a:extLst xmlns:a="http://schemas.openxmlformats.org/drawingml/2006/main">
              <a:ext uri="{FF2B5EF4-FFF2-40B4-BE49-F238E27FC236}">
                <a16:creationId xmlns:a16="http://schemas.microsoft.com/office/drawing/2014/main" id="{CE5966BE-ACFA-437B-AF25-8A1C9849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1117"/>
                </a:solidFill>
              </a:defRPr>
            </a:pPr>
            <a:r>
              <a:rPr sz="1575" b="1">
                <a:solidFill>
                  <a:srgbClr val="0D1117"/>
                </a:solidFill>
              </a:rPr>
              <a:t>HttpOnly Cookie</a:t>
            </a:r>
          </a:p>
        </p:txBody>
      </p:sp>
      <p:sp>
        <p:nvSpPr>
          <p:cNvPr id="11" name="line0">
            <a:extLst xmlns:a="http://schemas.openxmlformats.org/drawingml/2006/main">
              <a:ext uri="{FF2B5EF4-FFF2-40B4-BE49-F238E27FC236}">
                <a16:creationId xmlns:a16="http://schemas.microsoft.com/office/drawing/2014/main" id="{9C634E52-CBC7-47B0-A448-B3E9D76B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1">
            <a:extLst xmlns:a="http://schemas.openxmlformats.org/drawingml/2006/main">
              <a:ext uri="{FF2B5EF4-FFF2-40B4-BE49-F238E27FC236}">
                <a16:creationId xmlns:a16="http://schemas.microsoft.com/office/drawing/2014/main" id="{339D212E-E43E-499F-BC4D-6C2B2DA5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跨站偽造寫入</a:t>
            </a:r>
          </a:p>
        </p:txBody>
      </p:sp>
      <p:sp>
        <p:nvSpPr>
          <p:cNvPr id="13" name="arrow1">
            <a:extLst xmlns:a="http://schemas.openxmlformats.org/drawingml/2006/main">
              <a:ext uri="{FF2B5EF4-FFF2-40B4-BE49-F238E27FC236}">
                <a16:creationId xmlns:a16="http://schemas.microsoft.com/office/drawing/2014/main" id="{B46A7E19-8CD9-4725-A81F-2867BE63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7606A"/>
                </a:solidFill>
              </a:defRPr>
            </a:pPr>
            <a:r>
              <a:rPr sz="1800" b="1">
                <a:solidFill>
                  <a:srgbClr val="57606A"/>
                </a:solidFill>
              </a:rPr>
              <a:t>→</a:t>
            </a:r>
          </a:p>
        </p:txBody>
      </p:sp>
      <p:sp>
        <p:nvSpPr>
          <p:cNvPr id="14" name="c1">
            <a:extLst xmlns:a="http://schemas.openxmlformats.org/drawingml/2006/main">
              <a:ext uri="{FF2B5EF4-FFF2-40B4-BE49-F238E27FC236}">
                <a16:creationId xmlns:a16="http://schemas.microsoft.com/office/drawing/2014/main" id="{39ED59AC-3784-4552-B46F-12E0C4E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1117"/>
                </a:solidFill>
              </a:defRPr>
            </a:pPr>
            <a:r>
              <a:rPr sz="1575" b="1">
                <a:solidFill>
                  <a:srgbClr val="0D1117"/>
                </a:solidFill>
              </a:rPr>
              <a:t>全域 CSRF 驗證</a:t>
            </a:r>
          </a:p>
        </p:txBody>
      </p:sp>
      <p:sp>
        <p:nvSpPr>
          <p:cNvPr id="15" name="line1">
            <a:extLst xmlns:a="http://schemas.openxmlformats.org/drawingml/2006/main">
              <a:ext uri="{FF2B5EF4-FFF2-40B4-BE49-F238E27FC236}">
                <a16:creationId xmlns:a16="http://schemas.microsoft.com/office/drawing/2014/main" id="{B8145A31-8E0F-4B3F-9A3B-9F3D9988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2">
            <a:extLst xmlns:a="http://schemas.openxmlformats.org/drawingml/2006/main">
              <a:ext uri="{FF2B5EF4-FFF2-40B4-BE49-F238E27FC236}">
                <a16:creationId xmlns:a16="http://schemas.microsoft.com/office/drawing/2014/main" id="{7184D3E4-BD4A-4CF3-B115-B4483523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Refresh Token 明文／重放</a:t>
            </a:r>
          </a:p>
        </p:txBody>
      </p:sp>
      <p:sp>
        <p:nvSpPr>
          <p:cNvPr id="17" name="arrow2">
            <a:extLst xmlns:a="http://schemas.openxmlformats.org/drawingml/2006/main">
              <a:ext uri="{FF2B5EF4-FFF2-40B4-BE49-F238E27FC236}">
                <a16:creationId xmlns:a16="http://schemas.microsoft.com/office/drawing/2014/main" id="{BDF688AF-429E-4F94-B256-772AE6B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909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7606A"/>
                </a:solidFill>
              </a:defRPr>
            </a:pPr>
            <a:r>
              <a:rPr sz="1800" b="1">
                <a:solidFill>
                  <a:srgbClr val="57606A"/>
                </a:solidFill>
              </a:rPr>
              <a:t>→</a:t>
            </a:r>
          </a:p>
        </p:txBody>
      </p:sp>
      <p:sp>
        <p:nvSpPr>
          <p:cNvPr id="18" name="c2">
            <a:extLst xmlns:a="http://schemas.openxmlformats.org/drawingml/2006/main">
              <a:ext uri="{FF2B5EF4-FFF2-40B4-BE49-F238E27FC236}">
                <a16:creationId xmlns:a16="http://schemas.microsoft.com/office/drawing/2014/main" id="{738700B8-59B8-42FD-A75F-38785D10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1117"/>
                </a:solidFill>
              </a:defRPr>
            </a:pPr>
            <a:r>
              <a:rPr sz="1575" b="1">
                <a:solidFill>
                  <a:srgbClr val="0D1117"/>
                </a:solidFill>
              </a:rPr>
              <a:t>雜湊＋輪替＋family 撤銷</a:t>
            </a:r>
          </a:p>
        </p:txBody>
      </p:sp>
      <p:sp>
        <p:nvSpPr>
          <p:cNvPr id="19" name="line2">
            <a:extLst xmlns:a="http://schemas.openxmlformats.org/drawingml/2006/main">
              <a:ext uri="{FF2B5EF4-FFF2-40B4-BE49-F238E27FC236}">
                <a16:creationId xmlns:a16="http://schemas.microsoft.com/office/drawing/2014/main" id="{6301C33B-774A-4B64-AB49-A23FCBAB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3">
            <a:extLst xmlns:a="http://schemas.openxmlformats.org/drawingml/2006/main">
              <a:ext uri="{FF2B5EF4-FFF2-40B4-BE49-F238E27FC236}">
                <a16:creationId xmlns:a16="http://schemas.microsoft.com/office/drawing/2014/main" id="{85B502D2-E837-4CB6-B028-8A84A79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匿名即時連線</a:t>
            </a:r>
          </a:p>
        </p:txBody>
      </p:sp>
      <p:sp>
        <p:nvSpPr>
          <p:cNvPr id="21" name="arrow3">
            <a:extLst xmlns:a="http://schemas.openxmlformats.org/drawingml/2006/main">
              <a:ext uri="{FF2B5EF4-FFF2-40B4-BE49-F238E27FC236}">
                <a16:creationId xmlns:a16="http://schemas.microsoft.com/office/drawing/2014/main" id="{F43BF75C-0893-45B6-8661-FE13DFA4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38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7606A"/>
                </a:solidFill>
              </a:defRPr>
            </a:pPr>
            <a:r>
              <a:rPr sz="1800" b="1">
                <a:solidFill>
                  <a:srgbClr val="57606A"/>
                </a:solidFill>
              </a:rPr>
              <a:t>→</a:t>
            </a:r>
          </a:p>
        </p:txBody>
      </p:sp>
      <p:sp>
        <p:nvSpPr>
          <p:cNvPr id="22" name="c3">
            <a:extLst xmlns:a="http://schemas.openxmlformats.org/drawingml/2006/main">
              <a:ext uri="{FF2B5EF4-FFF2-40B4-BE49-F238E27FC236}">
                <a16:creationId xmlns:a16="http://schemas.microsoft.com/office/drawing/2014/main" id="{2FC88CEF-B515-4E70-9DF1-99CCCE7A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1117"/>
                </a:solidFill>
              </a:defRPr>
            </a:pPr>
            <a:r>
              <a:rPr sz="1575" b="1">
                <a:solidFill>
                  <a:srgbClr val="0D1117"/>
                </a:solidFill>
              </a:rPr>
              <a:t>SignalR 強制授權</a:t>
            </a:r>
          </a:p>
        </p:txBody>
      </p:sp>
      <p:sp>
        <p:nvSpPr>
          <p:cNvPr id="23" name="line3">
            <a:extLst xmlns:a="http://schemas.openxmlformats.org/drawingml/2006/main">
              <a:ext uri="{FF2B5EF4-FFF2-40B4-BE49-F238E27FC236}">
                <a16:creationId xmlns:a16="http://schemas.microsoft.com/office/drawing/2014/main" id="{A0559CC8-26CE-466F-8BD4-0E3852B2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4">
            <a:extLst xmlns:a="http://schemas.openxmlformats.org/drawingml/2006/main">
              <a:ext uri="{FF2B5EF4-FFF2-40B4-BE49-F238E27FC236}">
                <a16:creationId xmlns:a16="http://schemas.microsoft.com/office/drawing/2014/main" id="{12CF8520-8B86-456F-95D9-2D64DD8E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Mongo root／公開 port</a:t>
            </a:r>
          </a:p>
        </p:txBody>
      </p:sp>
      <p:sp>
        <p:nvSpPr>
          <p:cNvPr id="25" name="arrow4">
            <a:extLst xmlns:a="http://schemas.openxmlformats.org/drawingml/2006/main">
              <a:ext uri="{FF2B5EF4-FFF2-40B4-BE49-F238E27FC236}">
                <a16:creationId xmlns:a16="http://schemas.microsoft.com/office/drawing/2014/main" id="{8764D024-F196-43F0-B778-3E3735AA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863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7606A"/>
                </a:solidFill>
              </a:defRPr>
            </a:pPr>
            <a:r>
              <a:rPr sz="1800" b="1">
                <a:solidFill>
                  <a:srgbClr val="57606A"/>
                </a:solidFill>
              </a:rPr>
              <a:t>→</a:t>
            </a:r>
          </a:p>
        </p:txBody>
      </p:sp>
      <p:sp>
        <p:nvSpPr>
          <p:cNvPr id="26" name="c4">
            <a:extLst xmlns:a="http://schemas.openxmlformats.org/drawingml/2006/main">
              <a:ext uri="{FF2B5EF4-FFF2-40B4-BE49-F238E27FC236}">
                <a16:creationId xmlns:a16="http://schemas.microsoft.com/office/drawing/2014/main" id="{09D60236-D1B7-410B-A5E5-FA711131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1117"/>
                </a:solidFill>
              </a:defRPr>
            </a:pPr>
            <a:r>
              <a:rPr sz="1575" b="1">
                <a:solidFill>
                  <a:srgbClr val="0D1117"/>
                </a:solidFill>
              </a:rPr>
              <a:t>網路隔離＋最小權限</a:t>
            </a:r>
          </a:p>
        </p:txBody>
      </p:sp>
      <p:sp>
        <p:nvSpPr>
          <p:cNvPr id="27" name="line4">
            <a:extLst xmlns:a="http://schemas.openxmlformats.org/drawingml/2006/main">
              <a:ext uri="{FF2B5EF4-FFF2-40B4-BE49-F238E27FC236}">
                <a16:creationId xmlns:a16="http://schemas.microsoft.com/office/drawing/2014/main" id="{3073EC27-5017-465A-BC57-FE0696A1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5">
            <a:extLst xmlns:a="http://schemas.openxmlformats.org/drawingml/2006/main">
              <a:ext uri="{FF2B5EF4-FFF2-40B4-BE49-F238E27FC236}">
                <a16:creationId xmlns:a16="http://schemas.microsoft.com/office/drawing/2014/main" id="{B5691A43-92F9-4B40-AD6D-554C2C5C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秘密寫入版控</a:t>
            </a:r>
          </a:p>
        </p:txBody>
      </p:sp>
      <p:sp>
        <p:nvSpPr>
          <p:cNvPr id="29" name="arrow5">
            <a:extLst xmlns:a="http://schemas.openxmlformats.org/drawingml/2006/main">
              <a:ext uri="{FF2B5EF4-FFF2-40B4-BE49-F238E27FC236}">
                <a16:creationId xmlns:a16="http://schemas.microsoft.com/office/drawing/2014/main" id="{35F60601-9070-4F85-8850-8C166630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340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7606A"/>
                </a:solidFill>
              </a:defRPr>
            </a:pPr>
            <a:r>
              <a:rPr sz="1800" b="1">
                <a:solidFill>
                  <a:srgbClr val="57606A"/>
                </a:solidFill>
              </a:rPr>
              <a:t>→</a:t>
            </a:r>
          </a:p>
        </p:txBody>
      </p:sp>
      <p:sp>
        <p:nvSpPr>
          <p:cNvPr id="30" name="c5">
            <a:extLst xmlns:a="http://schemas.openxmlformats.org/drawingml/2006/main">
              <a:ext uri="{FF2B5EF4-FFF2-40B4-BE49-F238E27FC236}">
                <a16:creationId xmlns:a16="http://schemas.microsoft.com/office/drawing/2014/main" id="{9DC97E4C-81EB-4BDF-9262-28B669E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D1117"/>
                </a:solidFill>
              </a:defRPr>
            </a:pPr>
            <a:r>
              <a:rPr sz="1575" b="1">
                <a:solidFill>
                  <a:srgbClr val="0D1117"/>
                </a:solidFill>
              </a:rPr>
              <a:t>外部注入＋缺值即失敗</a:t>
            </a:r>
          </a:p>
        </p:txBody>
      </p:sp>
    </p:spTree>
    <p:extLst>
      <p:ext uri="{BB962C8B-B14F-4D97-AF65-F5344CB8AC3E}">
        <p14:creationId xmlns:p14="http://schemas.microsoft.com/office/powerpoint/2010/main" val="1611382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E4063176-21BA-4F2F-9D87-065214EC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SESSION SECURITY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8C4A41-7A57-42C5-8054-A2797A5A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登入工作階段採縱深防禦，而非只依賴 JWT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C079E35-7332-4064-9A94-9469B2A8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437F4B9-1437-426F-B80F-9648A7A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C9E8FF-C2B5-4650-8ADF-F58D5ACE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05</a:t>
            </a:r>
          </a:p>
        </p:txBody>
      </p:sp>
      <p:sp>
        <p:nvSpPr>
          <p:cNvPr id="6" name="step0">
            <a:extLst xmlns:a="http://schemas.openxmlformats.org/drawingml/2006/main">
              <a:ext uri="{FF2B5EF4-FFF2-40B4-BE49-F238E27FC236}">
                <a16:creationId xmlns:a16="http://schemas.microsoft.com/office/drawing/2014/main" id="{5C8CE077-1347-4391-A7D2-774235B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7" name="num0">
            <a:extLst xmlns:a="http://schemas.openxmlformats.org/drawingml/2006/main">
              <a:ext uri="{FF2B5EF4-FFF2-40B4-BE49-F238E27FC236}">
                <a16:creationId xmlns:a16="http://schemas.microsoft.com/office/drawing/2014/main" id="{9C168C6E-6F68-41DD-AE86-164F62D3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F883D"/>
                </a:solidFill>
              </a:defRPr>
            </a:pPr>
            <a:r>
              <a:rPr sz="2400" b="1">
                <a:solidFill>
                  <a:srgbClr val="1F883D"/>
                </a:solidFill>
              </a:rPr>
              <a:t>1</a:t>
            </a:r>
          </a:p>
        </p:txBody>
      </p:sp>
      <p:sp>
        <p:nvSpPr>
          <p:cNvPr id="8" name="st0">
            <a:extLst xmlns:a="http://schemas.openxmlformats.org/drawingml/2006/main">
              <a:ext uri="{FF2B5EF4-FFF2-40B4-BE49-F238E27FC236}">
                <a16:creationId xmlns:a16="http://schemas.microsoft.com/office/drawing/2014/main" id="{CA068541-F1E3-4706-B8BE-9744A393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取得 CSRF</a:t>
            </a:r>
          </a:p>
        </p:txBody>
      </p:sp>
      <p:sp>
        <p:nvSpPr>
          <p:cNvPr id="9" name="sd0">
            <a:extLst xmlns:a="http://schemas.openxmlformats.org/drawingml/2006/main">
              <a:ext uri="{FF2B5EF4-FFF2-40B4-BE49-F238E27FC236}">
                <a16:creationId xmlns:a16="http://schemas.microsoft.com/office/drawing/2014/main" id="{5F4E70CD-1D3F-48AC-9384-0BDDB97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建立 request token</a:t>
            </a:r>
          </a:p>
        </p:txBody>
      </p:sp>
      <p:sp>
        <p:nvSpPr>
          <p:cNvPr id="10" name="step1">
            <a:extLst xmlns:a="http://schemas.openxmlformats.org/drawingml/2006/main">
              <a:ext uri="{FF2B5EF4-FFF2-40B4-BE49-F238E27FC236}">
                <a16:creationId xmlns:a16="http://schemas.microsoft.com/office/drawing/2014/main" id="{F1B25794-B3D3-4193-A2EA-8858DF93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47875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1" name="num1">
            <a:extLst xmlns:a="http://schemas.openxmlformats.org/drawingml/2006/main">
              <a:ext uri="{FF2B5EF4-FFF2-40B4-BE49-F238E27FC236}">
                <a16:creationId xmlns:a16="http://schemas.microsoft.com/office/drawing/2014/main" id="{4B1A6009-AD28-496E-9CCA-C415F15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F883D"/>
                </a:solidFill>
              </a:defRPr>
            </a:pPr>
            <a:r>
              <a:rPr sz="2400" b="1">
                <a:solidFill>
                  <a:srgbClr val="1F883D"/>
                </a:solidFill>
              </a:rPr>
              <a:t>2</a:t>
            </a:r>
          </a:p>
        </p:txBody>
      </p:sp>
      <p:sp>
        <p:nvSpPr>
          <p:cNvPr id="12" name="st1">
            <a:extLst xmlns:a="http://schemas.openxmlformats.org/drawingml/2006/main">
              <a:ext uri="{FF2B5EF4-FFF2-40B4-BE49-F238E27FC236}">
                <a16:creationId xmlns:a16="http://schemas.microsoft.com/office/drawing/2014/main" id="{36963EDD-12C8-4927-9163-6761A632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驗證登入</a:t>
            </a:r>
          </a:p>
        </p:txBody>
      </p:sp>
      <p:sp>
        <p:nvSpPr>
          <p:cNvPr id="13" name="sd1">
            <a:extLst xmlns:a="http://schemas.openxmlformats.org/drawingml/2006/main">
              <a:ext uri="{FF2B5EF4-FFF2-40B4-BE49-F238E27FC236}">
                <a16:creationId xmlns:a16="http://schemas.microsoft.com/office/drawing/2014/main" id="{A9F6DEAA-AF53-4C37-905A-336ADEF4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04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Argon2id＋rate limit</a:t>
            </a:r>
          </a:p>
        </p:txBody>
      </p:sp>
      <p:sp>
        <p:nvSpPr>
          <p:cNvPr id="14" name="step2">
            <a:extLst xmlns:a="http://schemas.openxmlformats.org/drawingml/2006/main">
              <a:ext uri="{FF2B5EF4-FFF2-40B4-BE49-F238E27FC236}">
                <a16:creationId xmlns:a16="http://schemas.microsoft.com/office/drawing/2014/main" id="{D941A429-20A1-4B55-89DF-2D156C05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5" name="num2">
            <a:extLst xmlns:a="http://schemas.openxmlformats.org/drawingml/2006/main">
              <a:ext uri="{FF2B5EF4-FFF2-40B4-BE49-F238E27FC236}">
                <a16:creationId xmlns:a16="http://schemas.microsoft.com/office/drawing/2014/main" id="{FABCEA22-6E1D-4F58-AF91-A07EDB61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F883D"/>
                </a:solidFill>
              </a:defRPr>
            </a:pPr>
            <a:r>
              <a:rPr sz="2400" b="1">
                <a:solidFill>
                  <a:srgbClr val="1F883D"/>
                </a:solidFill>
              </a:rPr>
              <a:t>3</a:t>
            </a:r>
          </a:p>
        </p:txBody>
      </p:sp>
      <p:sp>
        <p:nvSpPr>
          <p:cNvPr id="16" name="st2">
            <a:extLst xmlns:a="http://schemas.openxmlformats.org/drawingml/2006/main">
              <a:ext uri="{FF2B5EF4-FFF2-40B4-BE49-F238E27FC236}">
                <a16:creationId xmlns:a16="http://schemas.microsoft.com/office/drawing/2014/main" id="{2C7E1218-9FF0-4312-BFA7-B062F99F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發放 Cookie</a:t>
            </a:r>
          </a:p>
        </p:txBody>
      </p:sp>
      <p:sp>
        <p:nvSpPr>
          <p:cNvPr id="17" name="sd2">
            <a:extLst xmlns:a="http://schemas.openxmlformats.org/drawingml/2006/main">
              <a:ext uri="{FF2B5EF4-FFF2-40B4-BE49-F238E27FC236}">
                <a16:creationId xmlns:a16="http://schemas.microsoft.com/office/drawing/2014/main" id="{AFAAB827-9A99-403D-81CC-3485BB6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HttpOnly／SameSite／Secure</a:t>
            </a:r>
          </a:p>
        </p:txBody>
      </p:sp>
      <p:sp>
        <p:nvSpPr>
          <p:cNvPr id="18" name="step3">
            <a:extLst xmlns:a="http://schemas.openxmlformats.org/drawingml/2006/main">
              <a:ext uri="{FF2B5EF4-FFF2-40B4-BE49-F238E27FC236}">
                <a16:creationId xmlns:a16="http://schemas.microsoft.com/office/drawing/2014/main" id="{08D2D47E-70F4-4F19-88AF-6D0B669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47875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9" name="num3">
            <a:extLst xmlns:a="http://schemas.openxmlformats.org/drawingml/2006/main">
              <a:ext uri="{FF2B5EF4-FFF2-40B4-BE49-F238E27FC236}">
                <a16:creationId xmlns:a16="http://schemas.microsoft.com/office/drawing/2014/main" id="{29BE6E44-B821-488E-BAFD-0892BE9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F883D"/>
                </a:solidFill>
              </a:defRPr>
            </a:pPr>
            <a:r>
              <a:rPr sz="2400" b="1">
                <a:solidFill>
                  <a:srgbClr val="1F883D"/>
                </a:solidFill>
              </a:rPr>
              <a:t>4</a:t>
            </a:r>
          </a:p>
        </p:txBody>
      </p:sp>
      <p:sp>
        <p:nvSpPr>
          <p:cNvPr id="20" name="st3">
            <a:extLst xmlns:a="http://schemas.openxmlformats.org/drawingml/2006/main">
              <a:ext uri="{FF2B5EF4-FFF2-40B4-BE49-F238E27FC236}">
                <a16:creationId xmlns:a16="http://schemas.microsoft.com/office/drawing/2014/main" id="{E61E658B-EC0A-4536-A540-83B426F9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安全續期</a:t>
            </a:r>
          </a:p>
        </p:txBody>
      </p:sp>
      <p:sp>
        <p:nvSpPr>
          <p:cNvPr id="21" name="sd3">
            <a:extLst xmlns:a="http://schemas.openxmlformats.org/drawingml/2006/main">
              <a:ext uri="{FF2B5EF4-FFF2-40B4-BE49-F238E27FC236}">
                <a16:creationId xmlns:a16="http://schemas.microsoft.com/office/drawing/2014/main" id="{DE9EA760-9147-43F2-AF62-E79AB296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04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refresh hash 原子輪替</a:t>
            </a:r>
          </a:p>
        </p:txBody>
      </p:sp>
      <p:sp>
        <p:nvSpPr>
          <p:cNvPr id="22" name="step4">
            <a:extLst xmlns:a="http://schemas.openxmlformats.org/drawingml/2006/main">
              <a:ext uri="{FF2B5EF4-FFF2-40B4-BE49-F238E27FC236}">
                <a16:creationId xmlns:a16="http://schemas.microsoft.com/office/drawing/2014/main" id="{51916841-387B-4602-B5AD-D06F949C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47875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C5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23" name="num4">
            <a:extLst xmlns:a="http://schemas.openxmlformats.org/drawingml/2006/main">
              <a:ext uri="{FF2B5EF4-FFF2-40B4-BE49-F238E27FC236}">
                <a16:creationId xmlns:a16="http://schemas.microsoft.com/office/drawing/2014/main" id="{09316C26-8B75-433D-80BC-BAF641B1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BF8700"/>
                </a:solidFill>
              </a:defRPr>
            </a:pPr>
            <a:r>
              <a:rPr sz="2400" b="1">
                <a:solidFill>
                  <a:srgbClr val="BF8700"/>
                </a:solidFill>
              </a:rPr>
              <a:t>5</a:t>
            </a:r>
          </a:p>
        </p:txBody>
      </p:sp>
      <p:sp>
        <p:nvSpPr>
          <p:cNvPr id="24" name="st4">
            <a:extLst xmlns:a="http://schemas.openxmlformats.org/drawingml/2006/main">
              <a:ext uri="{FF2B5EF4-FFF2-40B4-BE49-F238E27FC236}">
                <a16:creationId xmlns:a16="http://schemas.microsoft.com/office/drawing/2014/main" id="{2A58C686-33B8-443D-BE4B-41C93516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偵測重放</a:t>
            </a:r>
          </a:p>
        </p:txBody>
      </p:sp>
      <p:sp>
        <p:nvSpPr>
          <p:cNvPr id="25" name="sd4">
            <a:extLst xmlns:a="http://schemas.openxmlformats.org/drawingml/2006/main">
              <a:ext uri="{FF2B5EF4-FFF2-40B4-BE49-F238E27FC236}">
                <a16:creationId xmlns:a16="http://schemas.microsoft.com/office/drawing/2014/main" id="{F0B1C03A-5285-40AB-9FD8-FD3546A5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004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撤銷整個 token family</a:t>
            </a:r>
          </a:p>
        </p:txBody>
      </p:sp>
      <p:sp>
        <p:nvSpPr>
          <p:cNvPr id="26" name="tabs">
            <a:extLst xmlns:a="http://schemas.openxmlformats.org/drawingml/2006/main">
              <a:ext uri="{FF2B5EF4-FFF2-40B4-BE49-F238E27FC236}">
                <a16:creationId xmlns:a16="http://schemas.microsoft.com/office/drawing/2014/main" id="{B215999E-23D3-41D7-A55D-0A90AB05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69DA"/>
                </a:solidFill>
              </a:defRPr>
            </a:pPr>
            <a:r>
              <a:rPr sz="1875" b="1">
                <a:solidFill>
                  <a:srgbClr val="0969DA"/>
                </a:solidFill>
              </a:rPr>
              <a:t>跨分頁 refresh 由 Web Locks 序列化，避免正常競態被誤判為攻擊。</a:t>
            </a:r>
          </a:p>
        </p:txBody>
      </p:sp>
    </p:spTree>
    <p:extLst>
      <p:ext uri="{BB962C8B-B14F-4D97-AF65-F5344CB8AC3E}">
        <p14:creationId xmlns:p14="http://schemas.microsoft.com/office/powerpoint/2010/main" val="320032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724A9AB5-AA15-446D-8B0A-1FC1F543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RUNTIME &amp; SUPPLY 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D7B453-33DB-43F7-828F-F54EAB08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部署安全已涵蓋最小權限、持久化與可重現性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3BD6A26-3646-47E3-8957-5D587007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3403D4-9CD4-452A-8393-C301833C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7F61EEB-B1A0-42F7-8A8B-7BCCA02D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06</a:t>
            </a:r>
          </a:p>
        </p:txBody>
      </p:sp>
      <p:sp>
        <p:nvSpPr>
          <p:cNvPr id="6" name="item0">
            <a:extLst xmlns:a="http://schemas.openxmlformats.org/drawingml/2006/main">
              <a:ext uri="{FF2B5EF4-FFF2-40B4-BE49-F238E27FC236}">
                <a16:creationId xmlns:a16="http://schemas.microsoft.com/office/drawing/2014/main" id="{6BC74217-C425-4815-A241-CC1683C9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7" name="ih0">
            <a:extLst xmlns:a="http://schemas.openxmlformats.org/drawingml/2006/main">
              <a:ext uri="{FF2B5EF4-FFF2-40B4-BE49-F238E27FC236}">
                <a16:creationId xmlns:a16="http://schemas.microsoft.com/office/drawing/2014/main" id="{B42BB30A-989C-4DED-9F5E-C32E6E4C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72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非 root 容器</a:t>
            </a:r>
          </a:p>
        </p:txBody>
      </p:sp>
      <p:sp>
        <p:nvSpPr>
          <p:cNvPr id="8" name="ib0">
            <a:extLst xmlns:a="http://schemas.openxmlformats.org/drawingml/2006/main">
              <a:ext uri="{FF2B5EF4-FFF2-40B4-BE49-F238E27FC236}">
                <a16:creationId xmlns:a16="http://schemas.microsoft.com/office/drawing/2014/main" id="{13A4D8B6-1B70-4A5A-A4DF-6E495C9A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Backend 使用 app 帳號執行</a:t>
            </a:r>
          </a:p>
        </p:txBody>
      </p:sp>
      <p:sp>
        <p:nvSpPr>
          <p:cNvPr id="9" name="item1">
            <a:extLst xmlns:a="http://schemas.openxmlformats.org/drawingml/2006/main">
              <a:ext uri="{FF2B5EF4-FFF2-40B4-BE49-F238E27FC236}">
                <a16:creationId xmlns:a16="http://schemas.microsoft.com/office/drawing/2014/main" id="{E4BA8F89-41D0-4436-89B0-8699CF5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0" name="ih1">
            <a:extLst xmlns:a="http://schemas.openxmlformats.org/drawingml/2006/main">
              <a:ext uri="{FF2B5EF4-FFF2-40B4-BE49-F238E27FC236}">
                <a16:creationId xmlns:a16="http://schemas.microsoft.com/office/drawing/2014/main" id="{E6C3F7A6-5C36-4C65-8B8E-0D22F96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472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Mongo 最小權限</a:t>
            </a:r>
          </a:p>
        </p:txBody>
      </p:sp>
      <p:sp>
        <p:nvSpPr>
          <p:cNvPr id="11" name="ib1">
            <a:extLst xmlns:a="http://schemas.openxmlformats.org/drawingml/2006/main">
              <a:ext uri="{FF2B5EF4-FFF2-40B4-BE49-F238E27FC236}">
                <a16:creationId xmlns:a16="http://schemas.microsoft.com/office/drawing/2014/main" id="{316B6577-DB3F-4BF5-AE5E-55B29C0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145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應用帳號僅 FamilyPortal readWrite</a:t>
            </a:r>
          </a:p>
        </p:txBody>
      </p:sp>
      <p:sp>
        <p:nvSpPr>
          <p:cNvPr id="12" name="item2">
            <a:extLst xmlns:a="http://schemas.openxmlformats.org/drawingml/2006/main">
              <a:ext uri="{FF2B5EF4-FFF2-40B4-BE49-F238E27FC236}">
                <a16:creationId xmlns:a16="http://schemas.microsoft.com/office/drawing/2014/main" id="{8FB8E80A-CF54-4DD0-A2CE-C3C3FF79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3" name="ih2">
            <a:extLst xmlns:a="http://schemas.openxmlformats.org/drawingml/2006/main">
              <a:ext uri="{FF2B5EF4-FFF2-40B4-BE49-F238E27FC236}">
                <a16:creationId xmlns:a16="http://schemas.microsoft.com/office/drawing/2014/main" id="{D4FF596C-AE62-4953-B17B-0FD64E0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472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既有 volume 可升級</a:t>
            </a:r>
          </a:p>
        </p:txBody>
      </p:sp>
      <p:sp>
        <p:nvSpPr>
          <p:cNvPr id="14" name="ib2">
            <a:extLst xmlns:a="http://schemas.openxmlformats.org/drawingml/2006/main">
              <a:ext uri="{FF2B5EF4-FFF2-40B4-BE49-F238E27FC236}">
                <a16:creationId xmlns:a16="http://schemas.microsoft.com/office/drawing/2014/main" id="{F311E850-EBA9-4854-8E34-8977D76B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冪等 user-init 每次部署確認</a:t>
            </a:r>
          </a:p>
        </p:txBody>
      </p:sp>
      <p:sp>
        <p:nvSpPr>
          <p:cNvPr id="15" name="item3">
            <a:extLst xmlns:a="http://schemas.openxmlformats.org/drawingml/2006/main">
              <a:ext uri="{FF2B5EF4-FFF2-40B4-BE49-F238E27FC236}">
                <a16:creationId xmlns:a16="http://schemas.microsoft.com/office/drawing/2014/main" id="{6B0D6A96-D1C0-44AD-8A9E-30F60AB4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6" name="ih3">
            <a:extLst xmlns:a="http://schemas.openxmlformats.org/drawingml/2006/main">
              <a:ext uri="{FF2B5EF4-FFF2-40B4-BE49-F238E27FC236}">
                <a16:creationId xmlns:a16="http://schemas.microsoft.com/office/drawing/2014/main" id="{DBE6177F-8ED3-47FB-B312-B6A75EA9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6125"/>
            <a:ext cx="472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金鑰不因重啟遺失</a:t>
            </a:r>
          </a:p>
        </p:txBody>
      </p:sp>
      <p:sp>
        <p:nvSpPr>
          <p:cNvPr id="17" name="ib3">
            <a:extLst xmlns:a="http://schemas.openxmlformats.org/drawingml/2006/main">
              <a:ext uri="{FF2B5EF4-FFF2-40B4-BE49-F238E27FC236}">
                <a16:creationId xmlns:a16="http://schemas.microsoft.com/office/drawing/2014/main" id="{989C2A3C-1507-4FB8-A000-89D7E5BC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Data Protection 使用具名 volume</a:t>
            </a:r>
          </a:p>
        </p:txBody>
      </p:sp>
      <p:sp>
        <p:nvSpPr>
          <p:cNvPr id="18" name="item4">
            <a:extLst xmlns:a="http://schemas.openxmlformats.org/drawingml/2006/main">
              <a:ext uri="{FF2B5EF4-FFF2-40B4-BE49-F238E27FC236}">
                <a16:creationId xmlns:a16="http://schemas.microsoft.com/office/drawing/2014/main" id="{44298B79-8BB2-48DC-A0A4-FE16B3A4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9" name="ih4">
            <a:extLst xmlns:a="http://schemas.openxmlformats.org/drawingml/2006/main">
              <a:ext uri="{FF2B5EF4-FFF2-40B4-BE49-F238E27FC236}">
                <a16:creationId xmlns:a16="http://schemas.microsoft.com/office/drawing/2014/main" id="{9D50C887-8B0B-45B3-B785-C0EA6F5E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2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漏洞套件已清除</a:t>
            </a:r>
          </a:p>
        </p:txBody>
      </p:sp>
      <p:sp>
        <p:nvSpPr>
          <p:cNvPr id="20" name="ib4">
            <a:extLst xmlns:a="http://schemas.openxmlformats.org/drawingml/2006/main">
              <a:ext uri="{FF2B5EF4-FFF2-40B4-BE49-F238E27FC236}">
                <a16:creationId xmlns:a16="http://schemas.microsoft.com/office/drawing/2014/main" id="{D9D74FA7-765E-46C1-AFAC-53A43132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NuGet 已知漏洞 0；前端 High／Critical 0</a:t>
            </a:r>
          </a:p>
        </p:txBody>
      </p:sp>
      <p:sp>
        <p:nvSpPr>
          <p:cNvPr id="21" name="item5">
            <a:extLst xmlns:a="http://schemas.openxmlformats.org/drawingml/2006/main">
              <a:ext uri="{FF2B5EF4-FFF2-40B4-BE49-F238E27FC236}">
                <a16:creationId xmlns:a16="http://schemas.microsoft.com/office/drawing/2014/main" id="{CF838D74-A3F1-49C5-A5EF-045FC09A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22" name="ih5">
            <a:extLst xmlns:a="http://schemas.openxmlformats.org/drawingml/2006/main">
              <a:ext uri="{FF2B5EF4-FFF2-40B4-BE49-F238E27FC236}">
                <a16:creationId xmlns:a16="http://schemas.microsoft.com/office/drawing/2014/main" id="{F4CABB97-3544-4F9C-9FBE-9E261FA2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472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健康與供應鏈可驗證</a:t>
            </a:r>
          </a:p>
        </p:txBody>
      </p:sp>
      <p:sp>
        <p:nvSpPr>
          <p:cNvPr id="23" name="ib5">
            <a:extLst xmlns:a="http://schemas.openxmlformats.org/drawingml/2006/main">
              <a:ext uri="{FF2B5EF4-FFF2-40B4-BE49-F238E27FC236}">
                <a16:creationId xmlns:a16="http://schemas.microsoft.com/office/drawing/2014/main" id="{2990DB3C-4E39-4F97-8866-782C359C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768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live／ready 分離，版本與 lockfile 固定</a:t>
            </a:r>
          </a:p>
        </p:txBody>
      </p:sp>
    </p:spTree>
    <p:extLst>
      <p:ext uri="{BB962C8B-B14F-4D97-AF65-F5344CB8AC3E}">
        <p14:creationId xmlns:p14="http://schemas.microsoft.com/office/powerpoint/2010/main" val="80008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D9A4D6AA-E210-4967-958D-8215B637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4ABDC6-E368-40E3-819B-0A04B8C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關鍵品質閘門已在本機完整驗證，並納入 CI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B2AEAE1-58F2-42A0-8907-1E1A6C1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B2EC716-0DAE-40A7-B4E4-43D5871E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BBB1EA4-37A2-4938-B1EB-0F603135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07</a:t>
            </a:r>
          </a:p>
        </p:txBody>
      </p:sp>
      <p:sp>
        <p:nvSpPr>
          <p:cNvPr id="6" name="metric-GitHub Actions">
            <a:extLst xmlns:a="http://schemas.openxmlformats.org/drawingml/2006/main">
              <a:ext uri="{FF2B5EF4-FFF2-40B4-BE49-F238E27FC236}">
                <a16:creationId xmlns:a16="http://schemas.microsoft.com/office/drawing/2014/main" id="{1DB243A4-F2E0-4664-A1DD-52EF5323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7" name="mv-GitHub Actions">
            <a:extLst xmlns:a="http://schemas.openxmlformats.org/drawingml/2006/main">
              <a:ext uri="{FF2B5EF4-FFF2-40B4-BE49-F238E27FC236}">
                <a16:creationId xmlns:a16="http://schemas.microsoft.com/office/drawing/2014/main" id="{7F3B6A5F-CA26-4BB2-85F5-BB4EA8CB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F883D"/>
                </a:solidFill>
              </a:defRPr>
            </a:pPr>
            <a:r>
              <a:rPr sz="3300" b="1">
                <a:solidFill>
                  <a:srgbClr val="1F883D"/>
                </a:solidFill>
              </a:rPr>
              <a:t>已設定</a:t>
            </a:r>
          </a:p>
        </p:txBody>
      </p:sp>
      <p:sp>
        <p:nvSpPr>
          <p:cNvPr id="8" name="ml-GitHub Actions">
            <a:extLst xmlns:a="http://schemas.openxmlformats.org/drawingml/2006/main">
              <a:ext uri="{FF2B5EF4-FFF2-40B4-BE49-F238E27FC236}">
                <a16:creationId xmlns:a16="http://schemas.microsoft.com/office/drawing/2014/main" id="{83B689A0-B7F7-43E5-B724-65A04BB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606A"/>
                </a:solidFill>
              </a:defRPr>
            </a:pPr>
            <a:r>
              <a:rPr sz="1350" b="1">
                <a:solidFill>
                  <a:srgbClr val="57606A"/>
                </a:solidFill>
              </a:rPr>
              <a:t>GitHub Actions</a:t>
            </a:r>
          </a:p>
        </p:txBody>
      </p:sp>
      <p:sp>
        <p:nvSpPr>
          <p:cNvPr id="9" name="metric-Backend">
            <a:extLst xmlns:a="http://schemas.openxmlformats.org/drawingml/2006/main">
              <a:ext uri="{FF2B5EF4-FFF2-40B4-BE49-F238E27FC236}">
                <a16:creationId xmlns:a16="http://schemas.microsoft.com/office/drawing/2014/main" id="{BE5443F1-1354-462D-B0E5-354E4C85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0" name="mv-Backend">
            <a:extLst xmlns:a="http://schemas.openxmlformats.org/drawingml/2006/main">
              <a:ext uri="{FF2B5EF4-FFF2-40B4-BE49-F238E27FC236}">
                <a16:creationId xmlns:a16="http://schemas.microsoft.com/office/drawing/2014/main" id="{37E62B8F-774E-4716-90F3-3A9CF5D6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812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969DA"/>
                </a:solidFill>
              </a:defRPr>
            </a:pPr>
            <a:r>
              <a:rPr sz="3300" b="1">
                <a:solidFill>
                  <a:srgbClr val="0969DA"/>
                </a:solidFill>
              </a:rPr>
              <a:t>158／158</a:t>
            </a:r>
          </a:p>
        </p:txBody>
      </p:sp>
      <p:sp>
        <p:nvSpPr>
          <p:cNvPr id="11" name="ml-Backend">
            <a:extLst xmlns:a="http://schemas.openxmlformats.org/drawingml/2006/main">
              <a:ext uri="{FF2B5EF4-FFF2-40B4-BE49-F238E27FC236}">
                <a16:creationId xmlns:a16="http://schemas.microsoft.com/office/drawing/2014/main" id="{58DDD3A0-E3B0-4ECC-A668-338CACC2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479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606A"/>
                </a:solidFill>
              </a:defRPr>
            </a:pPr>
            <a:r>
              <a:rPr sz="1350" b="1">
                <a:solidFill>
                  <a:srgbClr val="57606A"/>
                </a:solidFill>
              </a:rPr>
              <a:t>Backend</a:t>
            </a:r>
          </a:p>
        </p:txBody>
      </p:sp>
      <p:sp>
        <p:nvSpPr>
          <p:cNvPr id="12" name="metric-Frontend">
            <a:extLst xmlns:a="http://schemas.openxmlformats.org/drawingml/2006/main">
              <a:ext uri="{FF2B5EF4-FFF2-40B4-BE49-F238E27FC236}">
                <a16:creationId xmlns:a16="http://schemas.microsoft.com/office/drawing/2014/main" id="{A464AA39-987E-4C8B-8DB8-1D5F274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3" name="mv-Frontend">
            <a:extLst xmlns:a="http://schemas.openxmlformats.org/drawingml/2006/main">
              <a:ext uri="{FF2B5EF4-FFF2-40B4-BE49-F238E27FC236}">
                <a16:creationId xmlns:a16="http://schemas.microsoft.com/office/drawing/2014/main" id="{C0EDD9D4-2307-4303-BFBF-B1BFC076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969DA"/>
                </a:solidFill>
              </a:defRPr>
            </a:pPr>
            <a:r>
              <a:rPr sz="3300" b="1">
                <a:solidFill>
                  <a:srgbClr val="0969DA"/>
                </a:solidFill>
              </a:rPr>
              <a:t>54／54</a:t>
            </a:r>
          </a:p>
        </p:txBody>
      </p:sp>
      <p:sp>
        <p:nvSpPr>
          <p:cNvPr id="14" name="ml-Frontend">
            <a:extLst xmlns:a="http://schemas.openxmlformats.org/drawingml/2006/main">
              <a:ext uri="{FF2B5EF4-FFF2-40B4-BE49-F238E27FC236}">
                <a16:creationId xmlns:a16="http://schemas.microsoft.com/office/drawing/2014/main" id="{57AA4B85-8A9C-4831-B451-4DCA80F0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606A"/>
                </a:solidFill>
              </a:defRPr>
            </a:pPr>
            <a:r>
              <a:rPr sz="1350" b="1">
                <a:solidFill>
                  <a:srgbClr val="57606A"/>
                </a:solidFill>
              </a:rPr>
              <a:t>Frontend</a:t>
            </a:r>
          </a:p>
        </p:txBody>
      </p:sp>
      <p:sp>
        <p:nvSpPr>
          <p:cNvPr id="15" name="bullet-385">
            <a:extLst xmlns:a="http://schemas.openxmlformats.org/drawingml/2006/main">
              <a:ext uri="{FF2B5EF4-FFF2-40B4-BE49-F238E27FC236}">
                <a16:creationId xmlns:a16="http://schemas.microsoft.com/office/drawing/2014/main" id="{23B32E79-5BD9-42FC-80A7-0ABA3643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.NET 10：158 項安全／架構／整合測試全數通過</a:t>
            </a:r>
          </a:p>
        </p:txBody>
      </p:sp>
      <p:sp>
        <p:nvSpPr>
          <p:cNvPr id="16" name="bullet-440">
            <a:extLst xmlns:a="http://schemas.openxmlformats.org/drawingml/2006/main">
              <a:ext uri="{FF2B5EF4-FFF2-40B4-BE49-F238E27FC236}">
                <a16:creationId xmlns:a16="http://schemas.microsoft.com/office/drawing/2014/main" id="{A9D54C8B-CA82-46C7-8B04-27367D4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Frontend：54 項測試、ESLint、Next.js production build 通過</a:t>
            </a:r>
          </a:p>
        </p:txBody>
      </p:sp>
      <p:sp>
        <p:nvSpPr>
          <p:cNvPr id="17" name="bullet-495">
            <a:extLst xmlns:a="http://schemas.openxmlformats.org/drawingml/2006/main">
              <a:ext uri="{FF2B5EF4-FFF2-40B4-BE49-F238E27FC236}">
                <a16:creationId xmlns:a16="http://schemas.microsoft.com/office/drawing/2014/main" id="{FC415B25-0353-4458-A56A-34DD2680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供應鏈：NuGet 漏洞 0；pnpm High／Critical 0</a:t>
            </a:r>
          </a:p>
        </p:txBody>
      </p:sp>
      <p:sp>
        <p:nvSpPr>
          <p:cNvPr id="18" name="run">
            <a:extLst xmlns:a="http://schemas.openxmlformats.org/drawingml/2006/main">
              <a:ext uri="{FF2B5EF4-FFF2-40B4-BE49-F238E27FC236}">
                <a16:creationId xmlns:a16="http://schemas.microsoft.com/office/drawing/2014/main" id="{3B479EE8-4C93-4148-A1C4-7FF2D33E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606A"/>
                </a:solidFill>
              </a:defRPr>
            </a:pPr>
            <a:r>
              <a:rPr sz="1350" b="1">
                <a:solidFill>
                  <a:srgbClr val="57606A"/>
                </a:solidFill>
              </a:rPr>
              <a:t>本機：.NET 158／158｜Vitest 54／54｜Next build ✓</a:t>
            </a:r>
          </a:p>
        </p:txBody>
      </p:sp>
    </p:spTree>
    <p:extLst>
      <p:ext uri="{BB962C8B-B14F-4D97-AF65-F5344CB8AC3E}">
        <p14:creationId xmlns:p14="http://schemas.microsoft.com/office/powerpoint/2010/main" val="747296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C1E5474C-C5B5-403E-B4B8-0104F939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RESIDUAL RISK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73D84E-F19E-43B3-9792-C4F982A7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剩餘風險已轉為需要環境與制度共同處理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7EA6445-3A01-47A3-8C26-2D460433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F8ACED3-43B3-494F-9133-CD82AE02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DDB809B-C53A-4257-86EA-E6B4829A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08</a:t>
            </a:r>
          </a:p>
        </p:txBody>
      </p:sp>
      <p:sp>
        <p:nvSpPr>
          <p:cNvPr id="6" name="rk0">
            <a:extLst xmlns:a="http://schemas.openxmlformats.org/drawingml/2006/main">
              <a:ext uri="{FF2B5EF4-FFF2-40B4-BE49-F238E27FC236}">
                <a16:creationId xmlns:a16="http://schemas.microsoft.com/office/drawing/2014/main" id="{740EE48A-CA36-460D-9E7A-2E2CF152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F222E"/>
                </a:solidFill>
              </a:defRPr>
            </a:pPr>
            <a:r>
              <a:rPr sz="1575" b="1">
                <a:solidFill>
                  <a:srgbClr val="CF222E"/>
                </a:solidFill>
              </a:rPr>
              <a:t>TLS／代理</a:t>
            </a:r>
          </a:p>
        </p:txBody>
      </p:sp>
      <p:sp>
        <p:nvSpPr>
          <p:cNvPr id="7" name="rv0">
            <a:extLst xmlns:a="http://schemas.openxmlformats.org/drawingml/2006/main">
              <a:ext uri="{FF2B5EF4-FFF2-40B4-BE49-F238E27FC236}">
                <a16:creationId xmlns:a16="http://schemas.microsoft.com/office/drawing/2014/main" id="{82EE53EA-950A-4054-A418-644F6BF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正式 HTTPS、HSTS、KnownProxies</a:t>
            </a:r>
          </a:p>
        </p:txBody>
      </p:sp>
      <p:sp>
        <p:nvSpPr>
          <p:cNvPr id="8" name="rl0">
            <a:extLst xmlns:a="http://schemas.openxmlformats.org/drawingml/2006/main">
              <a:ext uri="{FF2B5EF4-FFF2-40B4-BE49-F238E27FC236}">
                <a16:creationId xmlns:a16="http://schemas.microsoft.com/office/drawing/2014/main" id="{3B8F69FE-465E-43E6-938B-4107FADC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k1">
            <a:extLst xmlns:a="http://schemas.openxmlformats.org/drawingml/2006/main">
              <a:ext uri="{FF2B5EF4-FFF2-40B4-BE49-F238E27FC236}">
                <a16:creationId xmlns:a16="http://schemas.microsoft.com/office/drawing/2014/main" id="{099D7CD2-09E0-4EB7-915E-B4044607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F222E"/>
                </a:solidFill>
              </a:defRPr>
            </a:pPr>
            <a:r>
              <a:rPr sz="1575" b="1">
                <a:solidFill>
                  <a:srgbClr val="CF222E"/>
                </a:solidFill>
              </a:rPr>
              <a:t>秘密生命週期</a:t>
            </a:r>
          </a:p>
        </p:txBody>
      </p:sp>
      <p:sp>
        <p:nvSpPr>
          <p:cNvPr id="10" name="rv1">
            <a:extLst xmlns:a="http://schemas.openxmlformats.org/drawingml/2006/main">
              <a:ext uri="{FF2B5EF4-FFF2-40B4-BE49-F238E27FC236}">
                <a16:creationId xmlns:a16="http://schemas.microsoft.com/office/drawing/2014/main" id="{9BAE0952-2D79-4D3F-BA55-56CD9200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Secret Manager、輪替、緊急撤銷</a:t>
            </a:r>
          </a:p>
        </p:txBody>
      </p:sp>
      <p:sp>
        <p:nvSpPr>
          <p:cNvPr id="11" name="rl1">
            <a:extLst xmlns:a="http://schemas.openxmlformats.org/drawingml/2006/main">
              <a:ext uri="{FF2B5EF4-FFF2-40B4-BE49-F238E27FC236}">
                <a16:creationId xmlns:a16="http://schemas.microsoft.com/office/drawing/2014/main" id="{B43E9A52-4EE3-4490-B723-F9B6C62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k2">
            <a:extLst xmlns:a="http://schemas.openxmlformats.org/drawingml/2006/main">
              <a:ext uri="{FF2B5EF4-FFF2-40B4-BE49-F238E27FC236}">
                <a16:creationId xmlns:a16="http://schemas.microsoft.com/office/drawing/2014/main" id="{003E0AFB-DB9B-4BE9-B93B-B8FC78B7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8700"/>
                </a:solidFill>
              </a:defRPr>
            </a:pPr>
            <a:r>
              <a:rPr sz="1575" b="1">
                <a:solidFill>
                  <a:srgbClr val="BF8700"/>
                </a:solidFill>
              </a:rPr>
              <a:t>營運韌性</a:t>
            </a:r>
          </a:p>
        </p:txBody>
      </p:sp>
      <p:sp>
        <p:nvSpPr>
          <p:cNvPr id="13" name="rv2">
            <a:extLst xmlns:a="http://schemas.openxmlformats.org/drawingml/2006/main">
              <a:ext uri="{FF2B5EF4-FFF2-40B4-BE49-F238E27FC236}">
                <a16:creationId xmlns:a16="http://schemas.microsoft.com/office/drawing/2014/main" id="{6582A6B7-99BD-4DCE-A118-D3C3E05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備份還原、RPO／RTO、災難演練</a:t>
            </a:r>
          </a:p>
        </p:txBody>
      </p:sp>
      <p:sp>
        <p:nvSpPr>
          <p:cNvPr id="14" name="rl2">
            <a:extLst xmlns:a="http://schemas.openxmlformats.org/drawingml/2006/main">
              <a:ext uri="{FF2B5EF4-FFF2-40B4-BE49-F238E27FC236}">
                <a16:creationId xmlns:a16="http://schemas.microsoft.com/office/drawing/2014/main" id="{5D9787E2-3C1D-4A72-AC09-B16295BB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k3">
            <a:extLst xmlns:a="http://schemas.openxmlformats.org/drawingml/2006/main">
              <a:ext uri="{FF2B5EF4-FFF2-40B4-BE49-F238E27FC236}">
                <a16:creationId xmlns:a16="http://schemas.microsoft.com/office/drawing/2014/main" id="{B7D228CB-1397-4ACE-B3FD-387117D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8700"/>
                </a:solidFill>
              </a:defRPr>
            </a:pPr>
            <a:r>
              <a:rPr sz="1575" b="1">
                <a:solidFill>
                  <a:srgbClr val="BF8700"/>
                </a:solidFill>
              </a:rPr>
              <a:t>可觀測性</a:t>
            </a:r>
          </a:p>
        </p:txBody>
      </p:sp>
      <p:sp>
        <p:nvSpPr>
          <p:cNvPr id="16" name="rv3">
            <a:extLst xmlns:a="http://schemas.openxmlformats.org/drawingml/2006/main">
              <a:ext uri="{FF2B5EF4-FFF2-40B4-BE49-F238E27FC236}">
                <a16:creationId xmlns:a16="http://schemas.microsoft.com/office/drawing/2014/main" id="{03EB0E92-4875-4FDF-8D8C-6E7BA5B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95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Metrics、traces、集中 log、告警</a:t>
            </a:r>
          </a:p>
        </p:txBody>
      </p:sp>
      <p:sp>
        <p:nvSpPr>
          <p:cNvPr id="17" name="rl3">
            <a:extLst xmlns:a="http://schemas.openxmlformats.org/drawingml/2006/main">
              <a:ext uri="{FF2B5EF4-FFF2-40B4-BE49-F238E27FC236}">
                <a16:creationId xmlns:a16="http://schemas.microsoft.com/office/drawing/2014/main" id="{F962FDE9-493D-421A-9E56-CA2F6427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k4">
            <a:extLst xmlns:a="http://schemas.openxmlformats.org/drawingml/2006/main">
              <a:ext uri="{FF2B5EF4-FFF2-40B4-BE49-F238E27FC236}">
                <a16:creationId xmlns:a16="http://schemas.microsoft.com/office/drawing/2014/main" id="{0B094960-3AF0-41EE-905B-9BC455A1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8700"/>
                </a:solidFill>
              </a:defRPr>
            </a:pPr>
            <a:r>
              <a:rPr sz="1575" b="1">
                <a:solidFill>
                  <a:srgbClr val="BF8700"/>
                </a:solidFill>
              </a:rPr>
              <a:t>治理責任</a:t>
            </a:r>
          </a:p>
        </p:txBody>
      </p:sp>
      <p:sp>
        <p:nvSpPr>
          <p:cNvPr id="19" name="rv4">
            <a:extLst xmlns:a="http://schemas.openxmlformats.org/drawingml/2006/main">
              <a:ext uri="{FF2B5EF4-FFF2-40B4-BE49-F238E27FC236}">
                <a16:creationId xmlns:a16="http://schemas.microsoft.com/office/drawing/2014/main" id="{CD9BE376-F75C-4D3A-816D-68E8E92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053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Branch protection、權限定期審查、變更核准</a:t>
            </a:r>
          </a:p>
        </p:txBody>
      </p:sp>
      <p:sp>
        <p:nvSpPr>
          <p:cNvPr id="20" name="rl4">
            <a:extLst xmlns:a="http://schemas.openxmlformats.org/drawingml/2006/main">
              <a:ext uri="{FF2B5EF4-FFF2-40B4-BE49-F238E27FC236}">
                <a16:creationId xmlns:a16="http://schemas.microsoft.com/office/drawing/2014/main" id="{FAFFCAA6-A420-4501-AA4F-04469602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k5">
            <a:extLst xmlns:a="http://schemas.openxmlformats.org/drawingml/2006/main">
              <a:ext uri="{FF2B5EF4-FFF2-40B4-BE49-F238E27FC236}">
                <a16:creationId xmlns:a16="http://schemas.microsoft.com/office/drawing/2014/main" id="{2971A5CA-CC02-4081-AAB0-E618D725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8700"/>
                </a:solidFill>
              </a:defRPr>
            </a:pPr>
            <a:r>
              <a:rPr sz="1575" b="1">
                <a:solidFill>
                  <a:srgbClr val="BF8700"/>
                </a:solidFill>
              </a:rPr>
              <a:t>完整 E2E</a:t>
            </a:r>
          </a:p>
        </p:txBody>
      </p:sp>
      <p:sp>
        <p:nvSpPr>
          <p:cNvPr id="22" name="rv5">
            <a:extLst xmlns:a="http://schemas.openxmlformats.org/drawingml/2006/main">
              <a:ext uri="{FF2B5EF4-FFF2-40B4-BE49-F238E27FC236}">
                <a16:creationId xmlns:a16="http://schemas.microsoft.com/office/drawing/2014/main" id="{80890E74-CD2D-4D91-9432-0EF7719A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91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D1117"/>
                </a:solidFill>
              </a:defRPr>
            </a:pPr>
            <a:r>
              <a:rPr sz="1575" b="0">
                <a:solidFill>
                  <a:srgbClr val="0D1117"/>
                </a:solidFill>
              </a:rPr>
              <a:t>真實 Mongo/API/Web login-refresh-logout</a:t>
            </a:r>
          </a:p>
        </p:txBody>
      </p:sp>
      <p:sp>
        <p:nvSpPr>
          <p:cNvPr id="23" name="rl5">
            <a:extLst xmlns:a="http://schemas.openxmlformats.org/drawingml/2006/main">
              <a:ext uri="{FF2B5EF4-FFF2-40B4-BE49-F238E27FC236}">
                <a16:creationId xmlns:a16="http://schemas.microsoft.com/office/drawing/2014/main" id="{F5952BC2-8E7C-4974-8D1F-CAE3C40C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4944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ADD42E46-2AFA-4367-8DF5-BC04AAA0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C9FD44-3C8A-4D7A-A97A-616F2E60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以三階段投資完成真正的企業上線能力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47A6C9B-6A5A-4D84-BC0F-B334FF76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2D561A5-AEB2-4426-8C8C-9C84A01D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DD05C47-12C8-40E1-806A-EF4A40A2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09</a:t>
            </a:r>
          </a:p>
        </p:txBody>
      </p:sp>
      <p:sp>
        <p:nvSpPr>
          <p:cNvPr id="6" name="phase0">
            <a:extLst xmlns:a="http://schemas.openxmlformats.org/drawingml/2006/main">
              <a:ext uri="{FF2B5EF4-FFF2-40B4-BE49-F238E27FC236}">
                <a16:creationId xmlns:a16="http://schemas.microsoft.com/office/drawing/2014/main" id="{CCC50119-8A26-4AEB-B836-E0169CA4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7" name="bar0">
            <a:extLst xmlns:a="http://schemas.openxmlformats.org/drawingml/2006/main">
              <a:ext uri="{FF2B5EF4-FFF2-40B4-BE49-F238E27FC236}">
                <a16:creationId xmlns:a16="http://schemas.microsoft.com/office/drawing/2014/main" id="{A4E33B0C-CBD6-4044-8303-80F1C4CF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2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0">
            <a:extLst xmlns:a="http://schemas.openxmlformats.org/drawingml/2006/main">
              <a:ext uri="{FF2B5EF4-FFF2-40B4-BE49-F238E27FC236}">
                <a16:creationId xmlns:a16="http://schemas.microsoft.com/office/drawing/2014/main" id="{79B35376-A270-4316-9637-8989AF26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CF222E"/>
                </a:solidFill>
              </a:defRPr>
            </a:pPr>
            <a:r>
              <a:rPr sz="2025" b="1">
                <a:solidFill>
                  <a:srgbClr val="CF222E"/>
                </a:solidFill>
              </a:rPr>
              <a:t>P0｜上線閘門</a:t>
            </a:r>
          </a:p>
        </p:txBody>
      </p:sp>
      <p:sp>
        <p:nvSpPr>
          <p:cNvPr id="9" name="bullet-300">
            <a:extLst xmlns:a="http://schemas.openxmlformats.org/drawingml/2006/main">
              <a:ext uri="{FF2B5EF4-FFF2-40B4-BE49-F238E27FC236}">
                <a16:creationId xmlns:a16="http://schemas.microsoft.com/office/drawing/2014/main" id="{29B679ED-F8E8-44EA-86F3-164C9AF0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TLS 與正式網域</a:t>
            </a:r>
          </a:p>
        </p:txBody>
      </p:sp>
      <p:sp>
        <p:nvSpPr>
          <p:cNvPr id="10" name="bullet-358">
            <a:extLst xmlns:a="http://schemas.openxmlformats.org/drawingml/2006/main">
              <a:ext uri="{FF2B5EF4-FFF2-40B4-BE49-F238E27FC236}">
                <a16:creationId xmlns:a16="http://schemas.microsoft.com/office/drawing/2014/main" id="{B9C0BB30-29EE-48F4-AEE3-21240D73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Secret Manager</a:t>
            </a:r>
          </a:p>
        </p:txBody>
      </p:sp>
      <p:sp>
        <p:nvSpPr>
          <p:cNvPr id="11" name="bullet-416">
            <a:extLst xmlns:a="http://schemas.openxmlformats.org/drawingml/2006/main">
              <a:ext uri="{FF2B5EF4-FFF2-40B4-BE49-F238E27FC236}">
                <a16:creationId xmlns:a16="http://schemas.microsoft.com/office/drawing/2014/main" id="{33907644-C1D1-4D48-A9F2-A8B9129E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監控告警</a:t>
            </a:r>
          </a:p>
        </p:txBody>
      </p:sp>
      <p:sp>
        <p:nvSpPr>
          <p:cNvPr id="12" name="bullet-474">
            <a:extLst xmlns:a="http://schemas.openxmlformats.org/drawingml/2006/main">
              <a:ext uri="{FF2B5EF4-FFF2-40B4-BE49-F238E27FC236}">
                <a16:creationId xmlns:a16="http://schemas.microsoft.com/office/drawing/2014/main" id="{A08621D7-8661-4058-A636-FD261D74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備份還原演練</a:t>
            </a:r>
          </a:p>
        </p:txBody>
      </p:sp>
      <p:sp>
        <p:nvSpPr>
          <p:cNvPr id="13" name="phase1">
            <a:extLst xmlns:a="http://schemas.openxmlformats.org/drawingml/2006/main">
              <a:ext uri="{FF2B5EF4-FFF2-40B4-BE49-F238E27FC236}">
                <a16:creationId xmlns:a16="http://schemas.microsoft.com/office/drawing/2014/main" id="{FC62A39E-0FAE-4967-BAA9-F9139584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4" name="bar1">
            <a:extLst xmlns:a="http://schemas.openxmlformats.org/drawingml/2006/main">
              <a:ext uri="{FF2B5EF4-FFF2-40B4-BE49-F238E27FC236}">
                <a16:creationId xmlns:a16="http://schemas.microsoft.com/office/drawing/2014/main" id="{CF66149F-C2E0-49C2-BE90-3908BF9B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1">
            <a:extLst xmlns:a="http://schemas.openxmlformats.org/drawingml/2006/main">
              <a:ext uri="{FF2B5EF4-FFF2-40B4-BE49-F238E27FC236}">
                <a16:creationId xmlns:a16="http://schemas.microsoft.com/office/drawing/2014/main" id="{CDED1D73-01EE-4382-9B60-259A2C7F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8700"/>
                </a:solidFill>
              </a:defRPr>
            </a:pPr>
            <a:r>
              <a:rPr sz="2025" b="1">
                <a:solidFill>
                  <a:srgbClr val="BF8700"/>
                </a:solidFill>
              </a:rPr>
              <a:t>P1｜一個迭代</a:t>
            </a:r>
          </a:p>
        </p:txBody>
      </p:sp>
      <p:sp>
        <p:nvSpPr>
          <p:cNvPr id="16" name="bullet-300">
            <a:extLst xmlns:a="http://schemas.openxmlformats.org/drawingml/2006/main">
              <a:ext uri="{FF2B5EF4-FFF2-40B4-BE49-F238E27FC236}">
                <a16:creationId xmlns:a16="http://schemas.microsoft.com/office/drawing/2014/main" id="{B699536D-E8A0-473E-A067-2492BCD2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真實環境 E2E</a:t>
            </a:r>
          </a:p>
        </p:txBody>
      </p:sp>
      <p:sp>
        <p:nvSpPr>
          <p:cNvPr id="17" name="bullet-358">
            <a:extLst xmlns:a="http://schemas.openxmlformats.org/drawingml/2006/main">
              <a:ext uri="{FF2B5EF4-FFF2-40B4-BE49-F238E27FC236}">
                <a16:creationId xmlns:a16="http://schemas.microsoft.com/office/drawing/2014/main" id="{233FB5C6-8994-476D-B9D7-BC917B1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Branch protection</a:t>
            </a:r>
          </a:p>
        </p:txBody>
      </p:sp>
      <p:sp>
        <p:nvSpPr>
          <p:cNvPr id="18" name="bullet-416">
            <a:extLst xmlns:a="http://schemas.openxmlformats.org/drawingml/2006/main">
              <a:ext uri="{FF2B5EF4-FFF2-40B4-BE49-F238E27FC236}">
                <a16:creationId xmlns:a16="http://schemas.microsoft.com/office/drawing/2014/main" id="{A47A1D66-2E80-4562-A9F6-CC3A1C36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權限定期審查</a:t>
            </a:r>
          </a:p>
        </p:txBody>
      </p:sp>
      <p:sp>
        <p:nvSpPr>
          <p:cNvPr id="19" name="bullet-474">
            <a:extLst xmlns:a="http://schemas.openxmlformats.org/drawingml/2006/main">
              <a:ext uri="{FF2B5EF4-FFF2-40B4-BE49-F238E27FC236}">
                <a16:creationId xmlns:a16="http://schemas.microsoft.com/office/drawing/2014/main" id="{0133D545-9BB9-4B08-A35A-17F861E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告警值班流程</a:t>
            </a:r>
          </a:p>
        </p:txBody>
      </p:sp>
      <p:sp>
        <p:nvSpPr>
          <p:cNvPr id="20" name="phase2">
            <a:extLst xmlns:a="http://schemas.openxmlformats.org/drawingml/2006/main">
              <a:ext uri="{FF2B5EF4-FFF2-40B4-BE49-F238E27FC236}">
                <a16:creationId xmlns:a16="http://schemas.microsoft.com/office/drawing/2014/main" id="{108BCF68-28C3-4919-B58E-CBAF6C3B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21" name="bar2">
            <a:extLst xmlns:a="http://schemas.openxmlformats.org/drawingml/2006/main">
              <a:ext uri="{FF2B5EF4-FFF2-40B4-BE49-F238E27FC236}">
                <a16:creationId xmlns:a16="http://schemas.microsoft.com/office/drawing/2014/main" id="{E6F673C6-DBCB-47FA-9D1E-1AA3C9A1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2">
            <a:extLst xmlns:a="http://schemas.openxmlformats.org/drawingml/2006/main">
              <a:ext uri="{FF2B5EF4-FFF2-40B4-BE49-F238E27FC236}">
                <a16:creationId xmlns:a16="http://schemas.microsoft.com/office/drawing/2014/main" id="{AAE63915-9CCA-4AD2-98D1-8E22822C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883D"/>
                </a:solidFill>
              </a:defRPr>
            </a:pPr>
            <a:r>
              <a:rPr sz="2025" b="1">
                <a:solidFill>
                  <a:srgbClr val="1F883D"/>
                </a:solidFill>
              </a:rPr>
              <a:t>P2｜持續成熟</a:t>
            </a:r>
          </a:p>
        </p:txBody>
      </p:sp>
      <p:sp>
        <p:nvSpPr>
          <p:cNvPr id="23" name="bullet-300">
            <a:extLst xmlns:a="http://schemas.openxmlformats.org/drawingml/2006/main">
              <a:ext uri="{FF2B5EF4-FFF2-40B4-BE49-F238E27FC236}">
                <a16:creationId xmlns:a16="http://schemas.microsoft.com/office/drawing/2014/main" id="{1AC75319-A361-4CAD-87C8-A4714A86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容量與壓力測試</a:t>
            </a:r>
          </a:p>
        </p:txBody>
      </p:sp>
      <p:sp>
        <p:nvSpPr>
          <p:cNvPr id="24" name="bullet-358">
            <a:extLst xmlns:a="http://schemas.openxmlformats.org/drawingml/2006/main">
              <a:ext uri="{FF2B5EF4-FFF2-40B4-BE49-F238E27FC236}">
                <a16:creationId xmlns:a16="http://schemas.microsoft.com/office/drawing/2014/main" id="{CC5850E6-4B0A-4E7E-8598-75CB95DC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SLO／錯誤預算</a:t>
            </a:r>
          </a:p>
        </p:txBody>
      </p:sp>
      <p:sp>
        <p:nvSpPr>
          <p:cNvPr id="25" name="bullet-416">
            <a:extLst xmlns:a="http://schemas.openxmlformats.org/drawingml/2006/main">
              <a:ext uri="{FF2B5EF4-FFF2-40B4-BE49-F238E27FC236}">
                <a16:creationId xmlns:a16="http://schemas.microsoft.com/office/drawing/2014/main" id="{FDF58C5C-1C8C-4D1C-972C-0232C65A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年度威脅模型</a:t>
            </a:r>
          </a:p>
        </p:txBody>
      </p:sp>
      <p:sp>
        <p:nvSpPr>
          <p:cNvPr id="26" name="bullet-474">
            <a:extLst xmlns:a="http://schemas.openxmlformats.org/drawingml/2006/main">
              <a:ext uri="{FF2B5EF4-FFF2-40B4-BE49-F238E27FC236}">
                <a16:creationId xmlns:a16="http://schemas.microsoft.com/office/drawing/2014/main" id="{6A268033-F9A5-4612-8543-FBEE3575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獨立滲透測試</a:t>
            </a:r>
          </a:p>
        </p:txBody>
      </p:sp>
    </p:spTree>
    <p:extLst>
      <p:ext uri="{BB962C8B-B14F-4D97-AF65-F5344CB8AC3E}">
        <p14:creationId xmlns:p14="http://schemas.microsoft.com/office/powerpoint/2010/main" val="2117705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4F6373D-D860-448B-9B9E-2486202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83D"/>
                </a:solidFill>
              </a:defRPr>
            </a:pPr>
            <a:r>
              <a:rPr sz="1050" b="1">
                <a:solidFill>
                  <a:srgbClr val="1F883D"/>
                </a:solidFill>
              </a:rPr>
              <a:t>DECISION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FE89DE-5265-4787-8208-11835B6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D1117"/>
                </a:solidFill>
              </a:defRPr>
            </a:pPr>
            <a:r>
              <a:rPr sz="3600" b="1">
                <a:solidFill>
                  <a:srgbClr val="0D1117"/>
                </a:solidFill>
              </a:rPr>
              <a:t>建議核准進入受控試營運／正式環境建置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9590442-9BC6-4EE3-A319-19FDF68C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7FD4D4B-D8B2-49E3-A218-68FD1C2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Hsu Family Portal · Open engineering review · 2026-07-24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C91323D-5B0D-49B3-961B-508D81DB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7606A"/>
                </a:solidFill>
              </a:defRPr>
            </a:pPr>
            <a:r>
              <a:rPr sz="1050" b="1">
                <a:solidFill>
                  <a:srgbClr val="57606A"/>
                </a:solidFill>
              </a:rPr>
              <a:t>10</a:t>
            </a:r>
          </a:p>
        </p:txBody>
      </p:sp>
      <p:sp>
        <p:nvSpPr>
          <p:cNvPr id="6" name="decision">
            <a:extLst xmlns:a="http://schemas.openxmlformats.org/drawingml/2006/main">
              <a:ext uri="{FF2B5EF4-FFF2-40B4-BE49-F238E27FC236}">
                <a16:creationId xmlns:a16="http://schemas.microsoft.com/office/drawing/2014/main" id="{0DD207F1-E3EF-4538-B94E-352A517A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4"/>
          </a:solidFill>
          <a:ln xmlns:a="http://schemas.openxmlformats.org/drawingml/2006/main" w="9525">
            <a:solidFill>
              <a:srgbClr val="2DA44E"/>
            </a:solidFill>
            <a:prstDash val="solid"/>
          </a:ln>
        </p:spPr>
      </p:sp>
      <p:sp>
        <p:nvSpPr>
          <p:cNvPr id="7" name="dt">
            <a:extLst xmlns:a="http://schemas.openxmlformats.org/drawingml/2006/main">
              <a:ext uri="{FF2B5EF4-FFF2-40B4-BE49-F238E27FC236}">
                <a16:creationId xmlns:a16="http://schemas.microsoft.com/office/drawing/2014/main" id="{5E556BE5-9A3C-49C2-AECC-495EC521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883D"/>
                </a:solidFill>
              </a:defRPr>
            </a:pPr>
            <a:r>
              <a:rPr sz="1650" b="1">
                <a:solidFill>
                  <a:srgbClr val="1F883D"/>
                </a:solidFill>
              </a:rPr>
              <a:t>建議決策</a:t>
            </a:r>
          </a:p>
        </p:txBody>
      </p:sp>
      <p:sp>
        <p:nvSpPr>
          <p:cNvPr id="8" name="dv">
            <a:extLst xmlns:a="http://schemas.openxmlformats.org/drawingml/2006/main">
              <a:ext uri="{FF2B5EF4-FFF2-40B4-BE49-F238E27FC236}">
                <a16:creationId xmlns:a16="http://schemas.microsoft.com/office/drawing/2014/main" id="{D241292A-B288-4581-9E45-EF59C762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D1117"/>
                </a:solidFill>
              </a:defRPr>
            </a:pPr>
            <a:r>
              <a:rPr sz="2400" b="1">
                <a:solidFill>
                  <a:srgbClr val="0D1117"/>
                </a:solidFill>
              </a:rPr>
              <a:t>保留現有技術基線，核准進入環境建置；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0D1117"/>
                </a:solidFill>
              </a:defRPr>
            </a:pPr>
            <a:r>
              <a:rPr sz="2400" b="1">
                <a:solidFill>
                  <a:srgbClr val="0D1117"/>
                </a:solidFill>
              </a:rPr>
              <a:t>以 P0 證據作為正式上線條件。</a:t>
            </a:r>
          </a:p>
        </p:txBody>
      </p:sp>
      <p:sp>
        <p:nvSpPr>
          <p:cNvPr id="9" name="why">
            <a:extLst xmlns:a="http://schemas.openxmlformats.org/drawingml/2006/main">
              <a:ext uri="{FF2B5EF4-FFF2-40B4-BE49-F238E27FC236}">
                <a16:creationId xmlns:a16="http://schemas.microsoft.com/office/drawing/2014/main" id="{99EC5063-FC3F-406E-B0B7-0F50A18C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7606A"/>
                </a:solidFill>
              </a:defRPr>
            </a:pPr>
            <a:r>
              <a:rPr sz="1500" b="1">
                <a:solidFill>
                  <a:srgbClr val="57606A"/>
                </a:solidFill>
              </a:rPr>
              <a:t>為什麼</a:t>
            </a:r>
          </a:p>
        </p:txBody>
      </p:sp>
      <p:sp>
        <p:nvSpPr>
          <p:cNvPr id="10" name="bullet-445">
            <a:extLst xmlns:a="http://schemas.openxmlformats.org/drawingml/2006/main">
              <a:ext uri="{FF2B5EF4-FFF2-40B4-BE49-F238E27FC236}">
                <a16:creationId xmlns:a16="http://schemas.microsoft.com/office/drawing/2014/main" id="{3686A534-0CC4-49E2-80B3-763ED8B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程式碼層 Critical／High 已處理，158＋54 項測試通過</a:t>
            </a:r>
          </a:p>
        </p:txBody>
      </p:sp>
      <p:sp>
        <p:nvSpPr>
          <p:cNvPr id="11" name="bullet-500">
            <a:extLst xmlns:a="http://schemas.openxmlformats.org/drawingml/2006/main">
              <a:ext uri="{FF2B5EF4-FFF2-40B4-BE49-F238E27FC236}">
                <a16:creationId xmlns:a16="http://schemas.microsoft.com/office/drawing/2014/main" id="{7CF6399D-CAEC-4028-8CDB-30F1B13E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D1117"/>
                </a:solidFill>
              </a:defRPr>
            </a:pPr>
            <a:r>
              <a:rPr sz="1650" b="0">
                <a:solidFill>
                  <a:srgbClr val="0D1117"/>
                </a:solidFill>
              </a:rPr>
              <a:t>•  架構可維護、安全控制可追溯、部署可重現</a:t>
            </a:r>
          </a:p>
        </p:txBody>
      </p:sp>
      <p:sp>
        <p:nvSpPr>
          <p:cNvPr id="12" name="bullet-555">
            <a:extLst xmlns:a="http://schemas.openxmlformats.org/drawingml/2006/main">
              <a:ext uri="{FF2B5EF4-FFF2-40B4-BE49-F238E27FC236}">
                <a16:creationId xmlns:a16="http://schemas.microsoft.com/office/drawing/2014/main" id="{742461E3-BC9C-4F86-BD78-D6E1E2DA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883D"/>
                </a:solidFill>
              </a:defRPr>
            </a:pPr>
            <a:r>
              <a:rPr sz="1650" b="0">
                <a:solidFill>
                  <a:srgbClr val="1F883D"/>
                </a:solidFill>
              </a:rPr>
              <a:t>•  下一步是補齊企業平台與治理，而不是重新開發</a:t>
            </a:r>
          </a:p>
        </p:txBody>
      </p:sp>
    </p:spTree>
    <p:extLst>
      <p:ext uri="{BB962C8B-B14F-4D97-AF65-F5344CB8AC3E}">
        <p14:creationId xmlns:p14="http://schemas.microsoft.com/office/powerpoint/2010/main" val="2004493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2026-07-24T17:06:32.9430000Z</dcterms:created>
  <dcterms:modified xsi:type="dcterms:W3CDTF">2026-07-24T17:06:32.9430000Z</dcterms:modified>
</coreProperties>
</file>