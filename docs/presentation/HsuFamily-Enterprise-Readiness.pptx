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d28fc8160344d06" /><Relationship Type="http://schemas.openxmlformats.org/officeDocument/2006/relationships/extended-properties" Target="/docProps/app.xml" Id="R6d3a97b38b774fa4" /><Relationship Type="http://schemas.openxmlformats.org/officeDocument/2006/relationships/officeDocument" Target="/ppt/presentation.xml" Id="Ra69d8c49562647e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7816753b7054c82"/>
  </p:sldMasterIdLst>
  <p:notesMasterIdLst>
    <p:notesMasterId xmlns:r="http://schemas.openxmlformats.org/officeDocument/2006/relationships" r:id="Rf008704331444bc4"/>
  </p:notesMasterIdLst>
  <p:sldIdLst>
    <p:sldId xmlns:r="http://schemas.openxmlformats.org/officeDocument/2006/relationships" id="256" r:id="Rb52cc5defa4b43fd"/>
    <p:sldId xmlns:r="http://schemas.openxmlformats.org/officeDocument/2006/relationships" id="257" r:id="R9780e65a89054865"/>
    <p:sldId xmlns:r="http://schemas.openxmlformats.org/officeDocument/2006/relationships" id="258" r:id="R05e4021838074292"/>
    <p:sldId xmlns:r="http://schemas.openxmlformats.org/officeDocument/2006/relationships" id="259" r:id="R333e69c82f274b86"/>
    <p:sldId xmlns:r="http://schemas.openxmlformats.org/officeDocument/2006/relationships" id="260" r:id="Rb94028c74f084f55"/>
    <p:sldId xmlns:r="http://schemas.openxmlformats.org/officeDocument/2006/relationships" id="261" r:id="R05ebb0c9fe464292"/>
    <p:sldId xmlns:r="http://schemas.openxmlformats.org/officeDocument/2006/relationships" id="262" r:id="Rb842f0cbfa9244c2"/>
    <p:sldId xmlns:r="http://schemas.openxmlformats.org/officeDocument/2006/relationships" id="263" r:id="R40eb2d3fd8ac4b85"/>
    <p:sldId xmlns:r="http://schemas.openxmlformats.org/officeDocument/2006/relationships" id="264" r:id="R28291605a0464553"/>
    <p:sldId xmlns:r="http://schemas.openxmlformats.org/officeDocument/2006/relationships" id="265" r:id="Rb842a4b6fbdd42e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f090358de7148a4" /><Relationship Type="http://schemas.openxmlformats.org/officeDocument/2006/relationships/slideMaster" Target="/ppt/slideMasters/slideMaster1.xml" Id="R77816753b7054c82" /><Relationship Type="http://schemas.openxmlformats.org/officeDocument/2006/relationships/notesMaster" Target="/ppt/notesMasters/notesMaster1.xml" Id="Rf008704331444bc4" /><Relationship Type="http://schemas.openxmlformats.org/officeDocument/2006/relationships/presProps" Target="/ppt/presProps.xml" Id="R4ed1249c0319445c" /><Relationship Type="http://schemas.openxmlformats.org/officeDocument/2006/relationships/tableStyles" Target="/ppt/tableStyles.xml" Id="R2e4ce4dbc2ef4383" /><Relationship Type="http://schemas.openxmlformats.org/officeDocument/2006/relationships/slide" Target="/ppt/slides/slide1.xml" Id="Rb52cc5defa4b43fd" /><Relationship Type="http://schemas.openxmlformats.org/officeDocument/2006/relationships/slide" Target="/ppt/slides/slide2.xml" Id="R9780e65a89054865" /><Relationship Type="http://schemas.openxmlformats.org/officeDocument/2006/relationships/slide" Target="/ppt/slides/slide3.xml" Id="R05e4021838074292" /><Relationship Type="http://schemas.openxmlformats.org/officeDocument/2006/relationships/slide" Target="/ppt/slides/slide4.xml" Id="R333e69c82f274b86" /><Relationship Type="http://schemas.openxmlformats.org/officeDocument/2006/relationships/slide" Target="/ppt/slides/slide5.xml" Id="Rb94028c74f084f55" /><Relationship Type="http://schemas.openxmlformats.org/officeDocument/2006/relationships/slide" Target="/ppt/slides/slide6.xml" Id="R05ebb0c9fe464292" /><Relationship Type="http://schemas.openxmlformats.org/officeDocument/2006/relationships/slide" Target="/ppt/slides/slide7.xml" Id="Rb842f0cbfa9244c2" /><Relationship Type="http://schemas.openxmlformats.org/officeDocument/2006/relationships/slide" Target="/ppt/slides/slide8.xml" Id="R40eb2d3fd8ac4b85" /><Relationship Type="http://schemas.openxmlformats.org/officeDocument/2006/relationships/slide" Target="/ppt/slides/slide9.xml" Id="R28291605a0464553" /><Relationship Type="http://schemas.openxmlformats.org/officeDocument/2006/relationships/slide" Target="/ppt/slides/slide10.xml" Id="Rb842a4b6fbdd42e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714e28ea56b407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0cb250a737c4484" /><Relationship Type="http://schemas.openxmlformats.org/officeDocument/2006/relationships/notesMaster" Target="/ppt/notesMasters/notesMaster1.xml" Id="R3d42598c0b17424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b2159428c554b03" /><Relationship Type="http://schemas.openxmlformats.org/officeDocument/2006/relationships/notesMaster" Target="/ppt/notesMasters/notesMaster1.xml" Id="R5120a2ccb44d4d4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bb258174c274315" /><Relationship Type="http://schemas.openxmlformats.org/officeDocument/2006/relationships/notesMaster" Target="/ppt/notesMasters/notesMaster1.xml" Id="R74bf887c1d5d478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b3f9850550841a5" /><Relationship Type="http://schemas.openxmlformats.org/officeDocument/2006/relationships/notesMaster" Target="/ppt/notesMasters/notesMaster1.xml" Id="R037e1ee6ace8410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6609da44bd74f60" /><Relationship Type="http://schemas.openxmlformats.org/officeDocument/2006/relationships/notesMaster" Target="/ppt/notesMasters/notesMaster1.xml" Id="R58b9e262cf7146b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ba5c65e396a468c" /><Relationship Type="http://schemas.openxmlformats.org/officeDocument/2006/relationships/notesMaster" Target="/ppt/notesMasters/notesMaster1.xml" Id="R82e9e57eae6b486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feede0f4ee64fa9" /><Relationship Type="http://schemas.openxmlformats.org/officeDocument/2006/relationships/notesMaster" Target="/ppt/notesMasters/notesMaster1.xml" Id="Rccb688cc6a65485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bf3a0d587c54feb" /><Relationship Type="http://schemas.openxmlformats.org/officeDocument/2006/relationships/notesMaster" Target="/ppt/notesMasters/notesMaster1.xml" Id="R72e7031d49da40c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c2080f0c77e4ee5" /><Relationship Type="http://schemas.openxmlformats.org/officeDocument/2006/relationships/notesMaster" Target="/ppt/notesMasters/notesMaster1.xml" Id="R1c7fab8fcc3a424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8f8497dcf144df8" /><Relationship Type="http://schemas.openxmlformats.org/officeDocument/2006/relationships/notesMaster" Target="/ppt/notesMasters/notesMaster1.xml" Id="R35099fbf186640d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7c0a83cc89425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6f043027f5e4bcb" /><Relationship Type="http://schemas.openxmlformats.org/officeDocument/2006/relationships/slideLayout" Target="/ppt/slideLayouts/slideLayout1.xml" Id="R055e93d9224d492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55e93d9224d492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c7e0e797d944e7" /><Relationship Type="http://schemas.openxmlformats.org/officeDocument/2006/relationships/notesSlide" Target="/ppt/notesSlides/notesSlide1.xml" Id="Rea1010497a1f448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d480ddc542482a" /><Relationship Type="http://schemas.openxmlformats.org/officeDocument/2006/relationships/notesSlide" Target="/ppt/notesSlides/notesSlide2.xml" Id="R36c31839848b405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4e70a0b9b84cd4" /><Relationship Type="http://schemas.openxmlformats.org/officeDocument/2006/relationships/notesSlide" Target="/ppt/notesSlides/notesSlide3.xml" Id="Rd1abb76b4e7345c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219d1751184a6b" /><Relationship Type="http://schemas.openxmlformats.org/officeDocument/2006/relationships/notesSlide" Target="/ppt/notesSlides/notesSlide4.xml" Id="Refcd56d12517437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8b761088ea4521" /><Relationship Type="http://schemas.openxmlformats.org/officeDocument/2006/relationships/notesSlide" Target="/ppt/notesSlides/notesSlide5.xml" Id="Rc2308f773e46405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ff10a7f07d438c" /><Relationship Type="http://schemas.openxmlformats.org/officeDocument/2006/relationships/notesSlide" Target="/ppt/notesSlides/notesSlide6.xml" Id="R33abd4450f8b4b5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d7bc35ff9a4f90" /><Relationship Type="http://schemas.openxmlformats.org/officeDocument/2006/relationships/notesSlide" Target="/ppt/notesSlides/notesSlide7.xml" Id="Rd806afbf966443a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b52da8d2d74422" /><Relationship Type="http://schemas.openxmlformats.org/officeDocument/2006/relationships/notesSlide" Target="/ppt/notesSlides/notesSlide8.xml" Id="R7e6c31da403d4f6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482400959b424e" /><Relationship Type="http://schemas.openxmlformats.org/officeDocument/2006/relationships/notesSlide" Target="/ppt/notesSlides/notesSlide9.xml" Id="R0499a858944b4d2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91d0907dd1404c" /><Relationship Type="http://schemas.openxmlformats.org/officeDocument/2006/relationships/notesSlide" Target="/ppt/notesSlides/notesSlide10.xml" Id="R99c5c36e796c499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D11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3C713D5A-1679-4CEC-8396-569995323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FB950"/>
                </a:solidFill>
              </a:defRPr>
            </a:pPr>
            <a:r>
              <a:rPr sz="1200" b="1">
                <a:solidFill>
                  <a:srgbClr val="3FB950"/>
                </a:solidFill>
              </a:rPr>
              <a:t>OPEN DESIGN · EXECUTIVE BRIEFING</a:t>
            </a:r>
          </a:p>
        </p:txBody>
      </p:sp>
      <p:sp>
        <p:nvSpPr>
          <p:cNvPr id="2" name="cover">
            <a:extLst xmlns:a="http://schemas.openxmlformats.org/drawingml/2006/main">
              <a:ext uri="{FF2B5EF4-FFF2-40B4-BE49-F238E27FC236}">
                <a16:creationId xmlns:a16="http://schemas.microsoft.com/office/drawing/2014/main" id="{562DBB0E-0286-452A-A254-7AD114006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9906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FFFFFF"/>
                </a:solidFill>
              </a:defRPr>
            </a:pPr>
            <a:r>
              <a:rPr sz="4800" b="1">
                <a:solidFill>
                  <a:srgbClr val="FFFFFF"/>
                </a:solidFill>
              </a:rPr>
              <a:t>許氏入口網</a:t>
            </a:r>
          </a:p>
          <a:p xmlns:a="http://schemas.openxmlformats.org/drawingml/2006/main">
            <a:pPr algn="l">
              <a:defRPr sz="4800" b="1">
                <a:solidFill>
                  <a:srgbClr val="FFFFFF"/>
                </a:solidFill>
              </a:defRPr>
            </a:pPr>
            <a:r>
              <a:rPr sz="4800" b="1">
                <a:solidFill>
                  <a:srgbClr val="FFFFFF"/>
                </a:solidFill>
              </a:rPr>
              <a:t>企業級工程與安全治理成果</a:t>
            </a:r>
          </a:p>
        </p:txBody>
      </p:sp>
      <p:sp>
        <p:nvSpPr>
          <p:cNvPr id="3" name="sub">
            <a:extLst xmlns:a="http://schemas.openxmlformats.org/drawingml/2006/main">
              <a:ext uri="{FF2B5EF4-FFF2-40B4-BE49-F238E27FC236}">
                <a16:creationId xmlns:a16="http://schemas.microsoft.com/office/drawing/2014/main" id="{6C4D81E5-7A31-41D8-AEE3-3DA83DEF8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71875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B1BAC4"/>
                </a:solidFill>
              </a:defRPr>
            </a:pPr>
            <a:r>
              <a:rPr sz="1875" b="0">
                <a:solidFill>
                  <a:srgbClr val="B1BAC4"/>
                </a:solidFill>
              </a:rPr>
              <a:t>從「功能可用」提升為「可治理、可驗證、可持續改善」的產品基線</a:t>
            </a:r>
          </a:p>
        </p:txBody>
      </p:sp>
      <p:sp>
        <p:nvSpPr>
          <p:cNvPr id="4" name="accent">
            <a:extLst xmlns:a="http://schemas.openxmlformats.org/drawingml/2006/main">
              <a:ext uri="{FF2B5EF4-FFF2-40B4-BE49-F238E27FC236}">
                <a16:creationId xmlns:a16="http://schemas.microsoft.com/office/drawing/2014/main" id="{EC40023B-D071-4FD5-89EC-700663B17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1809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A4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date">
            <a:extLst xmlns:a="http://schemas.openxmlformats.org/drawingml/2006/main">
              <a:ext uri="{FF2B5EF4-FFF2-40B4-BE49-F238E27FC236}">
                <a16:creationId xmlns:a16="http://schemas.microsoft.com/office/drawing/2014/main" id="{0CC7F657-082C-475E-B566-66BFD0947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666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8C959F"/>
                </a:solidFill>
              </a:defRPr>
            </a:pPr>
            <a:r>
              <a:rPr sz="1350" b="0">
                <a:solidFill>
                  <a:srgbClr val="8C959F"/>
                </a:solidFill>
              </a:rPr>
              <a:t>管理簡報｜2026-07-24｜程式碼基準 d022e84</a:t>
            </a:r>
          </a:p>
        </p:txBody>
      </p:sp>
      <p:sp>
        <p:nvSpPr>
          <p:cNvPr id="6" name="source">
            <a:extLst xmlns:a="http://schemas.openxmlformats.org/drawingml/2006/main">
              <a:ext uri="{FF2B5EF4-FFF2-40B4-BE49-F238E27FC236}">
                <a16:creationId xmlns:a16="http://schemas.microsoft.com/office/drawing/2014/main" id="{947B0620-8506-4B8E-BE1E-7FCE79A12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8C959F"/>
                </a:solidFill>
              </a:defRPr>
            </a:pPr>
            <a:r>
              <a:rPr sz="1050" b="0">
                <a:solidFill>
                  <a:srgbClr val="8C959F"/>
                </a:solidFill>
              </a:rPr>
              <a:t>Repository: github.com/helloapple080/HsuFamily</a:t>
            </a:r>
          </a:p>
        </p:txBody>
      </p:sp>
    </p:spTree>
    <p:extLst>
      <p:ext uri="{BB962C8B-B14F-4D97-AF65-F5344CB8AC3E}">
        <p14:creationId xmlns:p14="http://schemas.microsoft.com/office/powerpoint/2010/main" val="13921629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ection">
            <a:extLst xmlns:a="http://schemas.openxmlformats.org/drawingml/2006/main">
              <a:ext uri="{FF2B5EF4-FFF2-40B4-BE49-F238E27FC236}">
                <a16:creationId xmlns:a16="http://schemas.microsoft.com/office/drawing/2014/main" id="{AE7416CF-2DB8-455A-88A2-B325C9711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883D"/>
                </a:solidFill>
              </a:defRPr>
            </a:pPr>
            <a:r>
              <a:rPr sz="1050" b="1">
                <a:solidFill>
                  <a:srgbClr val="1F883D"/>
                </a:solidFill>
              </a:rPr>
              <a:t>EXECUTIVE ANSWER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5962E7B-AF1D-4213-9EF0-F92C8AF0C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1125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D1117"/>
                </a:solidFill>
              </a:defRPr>
            </a:pPr>
            <a:r>
              <a:rPr sz="3600" b="1">
                <a:solidFill>
                  <a:srgbClr val="0D1117"/>
                </a:solidFill>
              </a:rPr>
              <a:t>結論：已具備企業級思維，但上線仍需環境驗收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FE3EDD94-7298-4FBF-9D46-D8E71B8FF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7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0DBC265B-A3D5-4DF7-8FE5-6B61B0264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809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7606A"/>
                </a:solidFill>
              </a:defRPr>
            </a:pPr>
            <a:r>
              <a:rPr sz="900" b="0">
                <a:solidFill>
                  <a:srgbClr val="57606A"/>
                </a:solidFill>
              </a:rPr>
              <a:t>Hsu Family Portal · Open engineering review · 2026-07-24</a:t>
            </a:r>
          </a:p>
        </p:txBody>
      </p:sp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8F4416A9-C395-435F-A6BB-DF0C054C5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704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606A"/>
                </a:solidFill>
              </a:defRPr>
            </a:pPr>
            <a:r>
              <a:rPr sz="1050" b="1">
                <a:solidFill>
                  <a:srgbClr val="57606A"/>
                </a:solidFill>
              </a:rPr>
              <a:t>02</a:t>
            </a:r>
          </a:p>
        </p:txBody>
      </p:sp>
      <p:sp>
        <p:nvSpPr>
          <p:cNvPr id="6" name="claim">
            <a:extLst xmlns:a="http://schemas.openxmlformats.org/drawingml/2006/main">
              <a:ext uri="{FF2B5EF4-FFF2-40B4-BE49-F238E27FC236}">
                <a16:creationId xmlns:a16="http://schemas.microsoft.com/office/drawing/2014/main" id="{97684A72-C3C0-49D2-B377-09704C88D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62125"/>
            <a:ext cx="11125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E4"/>
          </a:solidFill>
          <a:ln xmlns:a="http://schemas.openxmlformats.org/drawingml/2006/main" w="9525">
            <a:solidFill>
              <a:srgbClr val="2DA44E"/>
            </a:solidFill>
            <a:prstDash val="solid"/>
          </a:ln>
        </p:spPr>
      </p:sp>
      <p:sp>
        <p:nvSpPr>
          <p:cNvPr id="7" name="claimtext">
            <a:extLst xmlns:a="http://schemas.openxmlformats.org/drawingml/2006/main">
              <a:ext uri="{FF2B5EF4-FFF2-40B4-BE49-F238E27FC236}">
                <a16:creationId xmlns:a16="http://schemas.microsoft.com/office/drawing/2014/main" id="{69677B06-B5C6-4184-A36D-1E0035031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52625"/>
            <a:ext cx="10477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D1117"/>
                </a:solidFill>
              </a:defRPr>
            </a:pPr>
            <a:r>
              <a:rPr sz="2250" b="1">
                <a:solidFill>
                  <a:srgbClr val="0D1117"/>
                </a:solidFill>
              </a:rPr>
              <a:t>程式碼已具備分層架構、預設安全、自動測試與可重現部署；</a:t>
            </a:r>
          </a:p>
          <a:p xmlns:a="http://schemas.openxmlformats.org/drawingml/2006/main">
            <a:pPr algn="l">
              <a:defRPr sz="2250" b="1">
                <a:solidFill>
                  <a:srgbClr val="0D1117"/>
                </a:solidFill>
              </a:defRPr>
            </a:pPr>
            <a:r>
              <a:rPr sz="2250" b="1">
                <a:solidFill>
                  <a:srgbClr val="0D1117"/>
                </a:solidFill>
              </a:rPr>
              <a:t>風險重心已從明顯漏洞轉向正式環境與營運治理。</a:t>
            </a:r>
          </a:p>
        </p:txBody>
      </p:sp>
      <p:sp>
        <p:nvSpPr>
          <p:cNvPr id="8" name="metric-企業級工程思維">
            <a:extLst xmlns:a="http://schemas.openxmlformats.org/drawingml/2006/main">
              <a:ext uri="{FF2B5EF4-FFF2-40B4-BE49-F238E27FC236}">
                <a16:creationId xmlns:a16="http://schemas.microsoft.com/office/drawing/2014/main" id="{10AFDD2E-9B7A-4D57-93A6-497E83711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81375"/>
            <a:ext cx="3429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9525">
            <a:solidFill>
              <a:srgbClr val="D0D7DE"/>
            </a:solidFill>
            <a:prstDash val="solid"/>
          </a:ln>
        </p:spPr>
      </p:sp>
      <p:sp>
        <p:nvSpPr>
          <p:cNvPr id="9" name="mv-企業級工程思維">
            <a:extLst xmlns:a="http://schemas.openxmlformats.org/drawingml/2006/main">
              <a:ext uri="{FF2B5EF4-FFF2-40B4-BE49-F238E27FC236}">
                <a16:creationId xmlns:a16="http://schemas.microsoft.com/office/drawing/2014/main" id="{34F88726-56D7-4E76-80A1-8FF6D826F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52825"/>
            <a:ext cx="2971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F883D"/>
                </a:solidFill>
              </a:defRPr>
            </a:pPr>
            <a:r>
              <a:rPr sz="3300" b="1">
                <a:solidFill>
                  <a:srgbClr val="1F883D"/>
                </a:solidFill>
              </a:rPr>
              <a:t>已具備</a:t>
            </a:r>
          </a:p>
        </p:txBody>
      </p:sp>
      <p:sp>
        <p:nvSpPr>
          <p:cNvPr id="10" name="ml-企業級工程思維">
            <a:extLst xmlns:a="http://schemas.openxmlformats.org/drawingml/2006/main">
              <a:ext uri="{FF2B5EF4-FFF2-40B4-BE49-F238E27FC236}">
                <a16:creationId xmlns:a16="http://schemas.microsoft.com/office/drawing/2014/main" id="{4F521DBF-1314-4F7F-B3BB-DA55067D7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19575"/>
            <a:ext cx="2971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7606A"/>
                </a:solidFill>
              </a:defRPr>
            </a:pPr>
            <a:r>
              <a:rPr sz="1350" b="1">
                <a:solidFill>
                  <a:srgbClr val="57606A"/>
                </a:solidFill>
              </a:rPr>
              <a:t>企業級工程思維</a:t>
            </a:r>
          </a:p>
        </p:txBody>
      </p:sp>
      <p:sp>
        <p:nvSpPr>
          <p:cNvPr id="11" name="metric-程式碼安全基線">
            <a:extLst xmlns:a="http://schemas.openxmlformats.org/drawingml/2006/main">
              <a:ext uri="{FF2B5EF4-FFF2-40B4-BE49-F238E27FC236}">
                <a16:creationId xmlns:a16="http://schemas.microsoft.com/office/drawing/2014/main" id="{28DEA1E9-2F21-4FD3-A890-DFA732579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381375"/>
            <a:ext cx="3429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9525">
            <a:solidFill>
              <a:srgbClr val="D0D7DE"/>
            </a:solidFill>
            <a:prstDash val="solid"/>
          </a:ln>
        </p:spPr>
      </p:sp>
      <p:sp>
        <p:nvSpPr>
          <p:cNvPr id="12" name="mv-程式碼安全基線">
            <a:extLst xmlns:a="http://schemas.openxmlformats.org/drawingml/2006/main">
              <a:ext uri="{FF2B5EF4-FFF2-40B4-BE49-F238E27FC236}">
                <a16:creationId xmlns:a16="http://schemas.microsoft.com/office/drawing/2014/main" id="{3FDABF60-4360-403C-81D0-E9D76A785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552825"/>
            <a:ext cx="2971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969DA"/>
                </a:solidFill>
              </a:defRPr>
            </a:pPr>
            <a:r>
              <a:rPr sz="3300" b="1">
                <a:solidFill>
                  <a:srgbClr val="0969DA"/>
                </a:solidFill>
              </a:rPr>
              <a:t>已建立</a:t>
            </a:r>
          </a:p>
        </p:txBody>
      </p:sp>
      <p:sp>
        <p:nvSpPr>
          <p:cNvPr id="13" name="ml-程式碼安全基線">
            <a:extLst xmlns:a="http://schemas.openxmlformats.org/drawingml/2006/main">
              <a:ext uri="{FF2B5EF4-FFF2-40B4-BE49-F238E27FC236}">
                <a16:creationId xmlns:a16="http://schemas.microsoft.com/office/drawing/2014/main" id="{36B2D52C-E527-4549-A69E-085E940C5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219575"/>
            <a:ext cx="2971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7606A"/>
                </a:solidFill>
              </a:defRPr>
            </a:pPr>
            <a:r>
              <a:rPr sz="1350" b="1">
                <a:solidFill>
                  <a:srgbClr val="57606A"/>
                </a:solidFill>
              </a:rPr>
              <a:t>程式碼安全基線</a:t>
            </a:r>
          </a:p>
        </p:txBody>
      </p:sp>
      <p:sp>
        <p:nvSpPr>
          <p:cNvPr id="14" name="metric-正式上線認證">
            <a:extLst xmlns:a="http://schemas.openxmlformats.org/drawingml/2006/main">
              <a:ext uri="{FF2B5EF4-FFF2-40B4-BE49-F238E27FC236}">
                <a16:creationId xmlns:a16="http://schemas.microsoft.com/office/drawing/2014/main" id="{9BECCBBE-CB8E-48F6-B644-369AE31B1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81375"/>
            <a:ext cx="3429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9525">
            <a:solidFill>
              <a:srgbClr val="D0D7DE"/>
            </a:solidFill>
            <a:prstDash val="solid"/>
          </a:ln>
        </p:spPr>
      </p:sp>
      <p:sp>
        <p:nvSpPr>
          <p:cNvPr id="15" name="mv-正式上線認證">
            <a:extLst xmlns:a="http://schemas.openxmlformats.org/drawingml/2006/main">
              <a:ext uri="{FF2B5EF4-FFF2-40B4-BE49-F238E27FC236}">
                <a16:creationId xmlns:a16="http://schemas.microsoft.com/office/drawing/2014/main" id="{9486DC98-336B-4291-8C4F-482B45AA2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552825"/>
            <a:ext cx="2971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BF8700"/>
                </a:solidFill>
              </a:defRPr>
            </a:pPr>
            <a:r>
              <a:rPr sz="3300" b="1">
                <a:solidFill>
                  <a:srgbClr val="BF8700"/>
                </a:solidFill>
              </a:rPr>
              <a:t>待驗收</a:t>
            </a:r>
          </a:p>
        </p:txBody>
      </p:sp>
      <p:sp>
        <p:nvSpPr>
          <p:cNvPr id="16" name="ml-正式上線認證">
            <a:extLst xmlns:a="http://schemas.openxmlformats.org/drawingml/2006/main">
              <a:ext uri="{FF2B5EF4-FFF2-40B4-BE49-F238E27FC236}">
                <a16:creationId xmlns:a16="http://schemas.microsoft.com/office/drawing/2014/main" id="{880E2BE0-657C-4718-A97A-63AEA139F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219575"/>
            <a:ext cx="2971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7606A"/>
                </a:solidFill>
              </a:defRPr>
            </a:pPr>
            <a:r>
              <a:rPr sz="1350" b="1">
                <a:solidFill>
                  <a:srgbClr val="57606A"/>
                </a:solidFill>
              </a:rPr>
              <a:t>正式上線認證</a:t>
            </a:r>
          </a:p>
        </p:txBody>
      </p:sp>
      <p:sp>
        <p:nvSpPr>
          <p:cNvPr id="17" name="note">
            <a:extLst xmlns:a="http://schemas.openxmlformats.org/drawingml/2006/main">
              <a:ext uri="{FF2B5EF4-FFF2-40B4-BE49-F238E27FC236}">
                <a16:creationId xmlns:a16="http://schemas.microsoft.com/office/drawing/2014/main" id="{8469238E-BCF9-4299-925D-6E65DA868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0"/>
            <a:ext cx="11125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D1117"/>
                </a:solidFill>
              </a:defRPr>
            </a:pPr>
            <a:r>
              <a:rPr sz="1800" b="1">
                <a:solidFill>
                  <a:srgbClr val="0D1117"/>
                </a:solidFill>
              </a:rPr>
              <a:t>管理意義：不需要重寫技術棧；下一階段投資應放在 TLS、秘密管理、監控、備援與治理。</a:t>
            </a:r>
          </a:p>
        </p:txBody>
      </p:sp>
    </p:spTree>
    <p:extLst>
      <p:ext uri="{BB962C8B-B14F-4D97-AF65-F5344CB8AC3E}">
        <p14:creationId xmlns:p14="http://schemas.microsoft.com/office/powerpoint/2010/main" val="159155874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ection">
            <a:extLst xmlns:a="http://schemas.openxmlformats.org/drawingml/2006/main">
              <a:ext uri="{FF2B5EF4-FFF2-40B4-BE49-F238E27FC236}">
                <a16:creationId xmlns:a16="http://schemas.microsoft.com/office/drawing/2014/main" id="{A2C1CA4E-7F20-413F-8591-CAA1FBDCA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883D"/>
                </a:solidFill>
              </a:defRPr>
            </a:pPr>
            <a:r>
              <a:rPr sz="1050" b="1">
                <a:solidFill>
                  <a:srgbClr val="1F883D"/>
                </a:solidFill>
              </a:rPr>
              <a:t>ARCHITECTURE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E6D6902-9FBF-49EF-A595-4FA8F1490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1125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D1117"/>
                </a:solidFill>
              </a:defRPr>
            </a:pPr>
            <a:r>
              <a:rPr sz="3600" b="1">
                <a:solidFill>
                  <a:srgbClr val="0D1117"/>
                </a:solidFill>
              </a:rPr>
              <a:t>現代架構讓功能、安全與維護責任有清楚邊界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C57CB313-116F-4D62-961B-39BB8ECC6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7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98D5FE89-B67E-4259-A192-B728081C3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809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7606A"/>
                </a:solidFill>
              </a:defRPr>
            </a:pPr>
            <a:r>
              <a:rPr sz="900" b="0">
                <a:solidFill>
                  <a:srgbClr val="57606A"/>
                </a:solidFill>
              </a:rPr>
              <a:t>Hsu Family Portal · Open engineering review · 2026-07-24</a:t>
            </a:r>
          </a:p>
        </p:txBody>
      </p:sp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E4E48F42-EF19-48A8-BD68-D4D686B9E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704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606A"/>
                </a:solidFill>
              </a:defRPr>
            </a:pPr>
            <a:r>
              <a:rPr sz="1050" b="1">
                <a:solidFill>
                  <a:srgbClr val="57606A"/>
                </a:solidFill>
              </a:rPr>
              <a:t>03</a:t>
            </a:r>
          </a:p>
        </p:txBody>
      </p:sp>
      <p:sp>
        <p:nvSpPr>
          <p:cNvPr id="6" name="arch0">
            <a:extLst xmlns:a="http://schemas.openxmlformats.org/drawingml/2006/main">
              <a:ext uri="{FF2B5EF4-FFF2-40B4-BE49-F238E27FC236}">
                <a16:creationId xmlns:a16="http://schemas.microsoft.com/office/drawing/2014/main" id="{35321D1E-3132-40F5-A66E-6485A5C19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3333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9525">
            <a:solidFill>
              <a:srgbClr val="D0D7DE"/>
            </a:solidFill>
            <a:prstDash val="solid"/>
          </a:ln>
        </p:spPr>
      </p:sp>
      <p:sp>
        <p:nvSpPr>
          <p:cNvPr id="7" name="at0">
            <a:extLst xmlns:a="http://schemas.openxmlformats.org/drawingml/2006/main">
              <a:ext uri="{FF2B5EF4-FFF2-40B4-BE49-F238E27FC236}">
                <a16:creationId xmlns:a16="http://schemas.microsoft.com/office/drawing/2014/main" id="{E189024E-AB05-4385-AFD8-18BE8171B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2876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D1117"/>
                </a:solidFill>
              </a:defRPr>
            </a:pPr>
            <a:r>
              <a:rPr sz="2025" b="1">
                <a:solidFill>
                  <a:srgbClr val="0D1117"/>
                </a:solidFill>
              </a:rPr>
              <a:t>Next.js 16</a:t>
            </a:r>
          </a:p>
        </p:txBody>
      </p:sp>
      <p:sp>
        <p:nvSpPr>
          <p:cNvPr id="8" name="ad0">
            <a:extLst xmlns:a="http://schemas.openxmlformats.org/drawingml/2006/main">
              <a:ext uri="{FF2B5EF4-FFF2-40B4-BE49-F238E27FC236}">
                <a16:creationId xmlns:a16="http://schemas.microsoft.com/office/drawing/2014/main" id="{ACD75110-C854-4A77-8220-DD6977CCC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57450"/>
            <a:ext cx="2876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7606A"/>
                </a:solidFill>
              </a:defRPr>
            </a:pPr>
            <a:r>
              <a:rPr sz="1350" b="0">
                <a:solidFill>
                  <a:srgbClr val="57606A"/>
                </a:solidFill>
              </a:rPr>
              <a:t>使用者介面</a:t>
            </a:r>
          </a:p>
        </p:txBody>
      </p:sp>
      <p:sp>
        <p:nvSpPr>
          <p:cNvPr id="9" name="arch1">
            <a:extLst xmlns:a="http://schemas.openxmlformats.org/drawingml/2006/main">
              <a:ext uri="{FF2B5EF4-FFF2-40B4-BE49-F238E27FC236}">
                <a16:creationId xmlns:a16="http://schemas.microsoft.com/office/drawing/2014/main" id="{C0EDCB2C-9889-4525-8845-011D405D1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809750"/>
            <a:ext cx="3333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9525">
            <a:solidFill>
              <a:srgbClr val="D0D7DE"/>
            </a:solidFill>
            <a:prstDash val="solid"/>
          </a:ln>
        </p:spPr>
      </p:sp>
      <p:sp>
        <p:nvSpPr>
          <p:cNvPr id="10" name="at1">
            <a:extLst xmlns:a="http://schemas.openxmlformats.org/drawingml/2006/main">
              <a:ext uri="{FF2B5EF4-FFF2-40B4-BE49-F238E27FC236}">
                <a16:creationId xmlns:a16="http://schemas.microsoft.com/office/drawing/2014/main" id="{0DFD12FA-723C-41CE-B743-03DCF1DCB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00250"/>
            <a:ext cx="2876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D1117"/>
                </a:solidFill>
              </a:defRPr>
            </a:pPr>
            <a:r>
              <a:rPr sz="2025" b="1">
                <a:solidFill>
                  <a:srgbClr val="0D1117"/>
                </a:solidFill>
              </a:rPr>
              <a:t>ASP.NET Core 10</a:t>
            </a:r>
          </a:p>
        </p:txBody>
      </p:sp>
      <p:sp>
        <p:nvSpPr>
          <p:cNvPr id="11" name="ad1">
            <a:extLst xmlns:a="http://schemas.openxmlformats.org/drawingml/2006/main">
              <a:ext uri="{FF2B5EF4-FFF2-40B4-BE49-F238E27FC236}">
                <a16:creationId xmlns:a16="http://schemas.microsoft.com/office/drawing/2014/main" id="{BD351D84-C636-4883-BA83-1ACEACA01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457450"/>
            <a:ext cx="2876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7606A"/>
                </a:solidFill>
              </a:defRPr>
            </a:pPr>
            <a:r>
              <a:rPr sz="1350" b="0">
                <a:solidFill>
                  <a:srgbClr val="57606A"/>
                </a:solidFill>
              </a:rPr>
              <a:t>API／授權</a:t>
            </a:r>
          </a:p>
        </p:txBody>
      </p:sp>
      <p:sp>
        <p:nvSpPr>
          <p:cNvPr id="12" name="arch2">
            <a:extLst xmlns:a="http://schemas.openxmlformats.org/drawingml/2006/main">
              <a:ext uri="{FF2B5EF4-FFF2-40B4-BE49-F238E27FC236}">
                <a16:creationId xmlns:a16="http://schemas.microsoft.com/office/drawing/2014/main" id="{8C285F66-C614-4A77-88B5-4CF6D940F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809750"/>
            <a:ext cx="3333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9525">
            <a:solidFill>
              <a:srgbClr val="D0D7DE"/>
            </a:solidFill>
            <a:prstDash val="solid"/>
          </a:ln>
        </p:spPr>
      </p:sp>
      <p:sp>
        <p:nvSpPr>
          <p:cNvPr id="13" name="at2">
            <a:extLst xmlns:a="http://schemas.openxmlformats.org/drawingml/2006/main">
              <a:ext uri="{FF2B5EF4-FFF2-40B4-BE49-F238E27FC236}">
                <a16:creationId xmlns:a16="http://schemas.microsoft.com/office/drawing/2014/main" id="{77FC9A21-D0CA-4F45-A995-807C2040C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00250"/>
            <a:ext cx="2876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D1117"/>
                </a:solidFill>
              </a:defRPr>
            </a:pPr>
            <a:r>
              <a:rPr sz="2025" b="1">
                <a:solidFill>
                  <a:srgbClr val="0D1117"/>
                </a:solidFill>
              </a:rPr>
              <a:t>Application</a:t>
            </a:r>
          </a:p>
        </p:txBody>
      </p:sp>
      <p:sp>
        <p:nvSpPr>
          <p:cNvPr id="14" name="ad2">
            <a:extLst xmlns:a="http://schemas.openxmlformats.org/drawingml/2006/main">
              <a:ext uri="{FF2B5EF4-FFF2-40B4-BE49-F238E27FC236}">
                <a16:creationId xmlns:a16="http://schemas.microsoft.com/office/drawing/2014/main" id="{1558AEF8-8119-4FAB-B361-339B36081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57450"/>
            <a:ext cx="2876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7606A"/>
                </a:solidFill>
              </a:defRPr>
            </a:pPr>
            <a:r>
              <a:rPr sz="1350" b="0">
                <a:solidFill>
                  <a:srgbClr val="57606A"/>
                </a:solidFill>
              </a:rPr>
              <a:t>業務契約</a:t>
            </a:r>
          </a:p>
        </p:txBody>
      </p:sp>
      <p:sp>
        <p:nvSpPr>
          <p:cNvPr id="15" name="arch3">
            <a:extLst xmlns:a="http://schemas.openxmlformats.org/drawingml/2006/main">
              <a:ext uri="{FF2B5EF4-FFF2-40B4-BE49-F238E27FC236}">
                <a16:creationId xmlns:a16="http://schemas.microsoft.com/office/drawing/2014/main" id="{A97B463A-CD98-4905-AA0E-E38DF8426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71875"/>
            <a:ext cx="3333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E4"/>
          </a:solidFill>
          <a:ln xmlns:a="http://schemas.openxmlformats.org/drawingml/2006/main" w="9525">
            <a:solidFill>
              <a:srgbClr val="D0D7DE"/>
            </a:solidFill>
            <a:prstDash val="solid"/>
          </a:ln>
        </p:spPr>
      </p:sp>
      <p:sp>
        <p:nvSpPr>
          <p:cNvPr id="16" name="at3">
            <a:extLst xmlns:a="http://schemas.openxmlformats.org/drawingml/2006/main">
              <a:ext uri="{FF2B5EF4-FFF2-40B4-BE49-F238E27FC236}">
                <a16:creationId xmlns:a16="http://schemas.microsoft.com/office/drawing/2014/main" id="{82637E06-0E8D-4857-ABD6-B8CD084C5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2876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D1117"/>
                </a:solidFill>
              </a:defRPr>
            </a:pPr>
            <a:r>
              <a:rPr sz="2025" b="1">
                <a:solidFill>
                  <a:srgbClr val="0D1117"/>
                </a:solidFill>
              </a:rPr>
              <a:t>Domain</a:t>
            </a:r>
          </a:p>
        </p:txBody>
      </p:sp>
      <p:sp>
        <p:nvSpPr>
          <p:cNvPr id="17" name="ad3">
            <a:extLst xmlns:a="http://schemas.openxmlformats.org/drawingml/2006/main">
              <a:ext uri="{FF2B5EF4-FFF2-40B4-BE49-F238E27FC236}">
                <a16:creationId xmlns:a16="http://schemas.microsoft.com/office/drawing/2014/main" id="{B8FB47C9-F532-43B8-A056-0354C84AE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19575"/>
            <a:ext cx="2876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7606A"/>
                </a:solidFill>
              </a:defRPr>
            </a:pPr>
            <a:r>
              <a:rPr sz="1350" b="0">
                <a:solidFill>
                  <a:srgbClr val="57606A"/>
                </a:solidFill>
              </a:rPr>
              <a:t>核心模型</a:t>
            </a:r>
          </a:p>
        </p:txBody>
      </p:sp>
      <p:sp>
        <p:nvSpPr>
          <p:cNvPr id="18" name="arch4">
            <a:extLst xmlns:a="http://schemas.openxmlformats.org/drawingml/2006/main">
              <a:ext uri="{FF2B5EF4-FFF2-40B4-BE49-F238E27FC236}">
                <a16:creationId xmlns:a16="http://schemas.microsoft.com/office/drawing/2014/main" id="{FE809468-B121-40B1-9E91-33E0DA8A8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571875"/>
            <a:ext cx="3333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9525">
            <a:solidFill>
              <a:srgbClr val="D0D7DE"/>
            </a:solidFill>
            <a:prstDash val="solid"/>
          </a:ln>
        </p:spPr>
      </p:sp>
      <p:sp>
        <p:nvSpPr>
          <p:cNvPr id="19" name="at4">
            <a:extLst xmlns:a="http://schemas.openxmlformats.org/drawingml/2006/main">
              <a:ext uri="{FF2B5EF4-FFF2-40B4-BE49-F238E27FC236}">
                <a16:creationId xmlns:a16="http://schemas.microsoft.com/office/drawing/2014/main" id="{8F6D4DD3-A7B5-48ED-A22E-6319D9CC0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762375"/>
            <a:ext cx="2876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D1117"/>
                </a:solidFill>
              </a:defRPr>
            </a:pPr>
            <a:r>
              <a:rPr sz="2025" b="1">
                <a:solidFill>
                  <a:srgbClr val="0D1117"/>
                </a:solidFill>
              </a:rPr>
              <a:t>Infrastructure</a:t>
            </a:r>
          </a:p>
        </p:txBody>
      </p:sp>
      <p:sp>
        <p:nvSpPr>
          <p:cNvPr id="20" name="ad4">
            <a:extLst xmlns:a="http://schemas.openxmlformats.org/drawingml/2006/main">
              <a:ext uri="{FF2B5EF4-FFF2-40B4-BE49-F238E27FC236}">
                <a16:creationId xmlns:a16="http://schemas.microsoft.com/office/drawing/2014/main" id="{3BB42AB0-0E43-4B40-A715-64D164F87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219575"/>
            <a:ext cx="2876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7606A"/>
                </a:solidFill>
              </a:defRPr>
            </a:pPr>
            <a:r>
              <a:rPr sz="1350" b="0">
                <a:solidFill>
                  <a:srgbClr val="57606A"/>
                </a:solidFill>
              </a:rPr>
              <a:t>Mongo／JWT／SignalR</a:t>
            </a:r>
          </a:p>
        </p:txBody>
      </p:sp>
      <p:sp>
        <p:nvSpPr>
          <p:cNvPr id="21" name="arch5">
            <a:extLst xmlns:a="http://schemas.openxmlformats.org/drawingml/2006/main">
              <a:ext uri="{FF2B5EF4-FFF2-40B4-BE49-F238E27FC236}">
                <a16:creationId xmlns:a16="http://schemas.microsoft.com/office/drawing/2014/main" id="{52A48D18-E11C-4058-A1E3-2B15BFFD1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571875"/>
            <a:ext cx="3333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9525">
            <a:solidFill>
              <a:srgbClr val="D0D7DE"/>
            </a:solidFill>
            <a:prstDash val="solid"/>
          </a:ln>
        </p:spPr>
      </p:sp>
      <p:sp>
        <p:nvSpPr>
          <p:cNvPr id="22" name="at5">
            <a:extLst xmlns:a="http://schemas.openxmlformats.org/drawingml/2006/main">
              <a:ext uri="{FF2B5EF4-FFF2-40B4-BE49-F238E27FC236}">
                <a16:creationId xmlns:a16="http://schemas.microsoft.com/office/drawing/2014/main" id="{50A0D8EC-555C-4FC6-A1CF-1E1522E2F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762375"/>
            <a:ext cx="2876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D1117"/>
                </a:solidFill>
              </a:defRPr>
            </a:pPr>
            <a:r>
              <a:rPr sz="2025" b="1">
                <a:solidFill>
                  <a:srgbClr val="0D1117"/>
                </a:solidFill>
              </a:rPr>
              <a:t>MongoDB 7</a:t>
            </a:r>
          </a:p>
        </p:txBody>
      </p:sp>
      <p:sp>
        <p:nvSpPr>
          <p:cNvPr id="23" name="ad5">
            <a:extLst xmlns:a="http://schemas.openxmlformats.org/drawingml/2006/main">
              <a:ext uri="{FF2B5EF4-FFF2-40B4-BE49-F238E27FC236}">
                <a16:creationId xmlns:a16="http://schemas.microsoft.com/office/drawing/2014/main" id="{54666677-1002-48A0-99F5-CC7270F5C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219575"/>
            <a:ext cx="2876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7606A"/>
                </a:solidFill>
              </a:defRPr>
            </a:pPr>
            <a:r>
              <a:rPr sz="1350" b="0">
                <a:solidFill>
                  <a:srgbClr val="57606A"/>
                </a:solidFill>
              </a:rPr>
              <a:t>資料保存</a:t>
            </a:r>
          </a:p>
        </p:txBody>
      </p:sp>
      <p:sp>
        <p:nvSpPr>
          <p:cNvPr id="24" name="flow">
            <a:extLst xmlns:a="http://schemas.openxmlformats.org/drawingml/2006/main">
              <a:ext uri="{FF2B5EF4-FFF2-40B4-BE49-F238E27FC236}">
                <a16:creationId xmlns:a16="http://schemas.microsoft.com/office/drawing/2014/main" id="{03103F96-5167-4995-871B-1FF810038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0"/>
            <a:ext cx="11125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F883D"/>
                </a:solidFill>
              </a:defRPr>
            </a:pPr>
            <a:r>
              <a:rPr sz="1575" b="1">
                <a:solidFill>
                  <a:srgbClr val="1F883D"/>
                </a:solidFill>
              </a:rPr>
              <a:t>依賴方向：Domain 無外部依賴 → Application 定義介面 → Infrastructure 實作 → API 組裝</a:t>
            </a:r>
          </a:p>
        </p:txBody>
      </p:sp>
    </p:spTree>
    <p:extLst>
      <p:ext uri="{BB962C8B-B14F-4D97-AF65-F5344CB8AC3E}">
        <p14:creationId xmlns:p14="http://schemas.microsoft.com/office/powerpoint/2010/main" val="200347859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section">
            <a:extLst xmlns:a="http://schemas.openxmlformats.org/drawingml/2006/main">
              <a:ext uri="{FF2B5EF4-FFF2-40B4-BE49-F238E27FC236}">
                <a16:creationId xmlns:a16="http://schemas.microsoft.com/office/drawing/2014/main" id="{D5CA5F99-E592-45CE-8709-A2D5E6F85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883D"/>
                </a:solidFill>
              </a:defRPr>
            </a:pPr>
            <a:r>
              <a:rPr sz="1050" b="1">
                <a:solidFill>
                  <a:srgbClr val="1F883D"/>
                </a:solidFill>
              </a:rPr>
              <a:t>SECURITY TRANSFORMATION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E4A86C5-150B-4B8F-88C5-EC4CE21BB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1125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D1117"/>
                </a:solidFill>
              </a:defRPr>
            </a:pPr>
            <a:r>
              <a:rPr sz="3600" b="1">
                <a:solidFill>
                  <a:srgbClr val="0D1117"/>
                </a:solidFill>
              </a:rPr>
              <a:t>高風險已被轉換成可驗證的防護控制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33CD8BD1-FCD2-4730-86C5-1806A3629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7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A6B40EDF-39F5-471D-9E6C-68FAE035A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809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7606A"/>
                </a:solidFill>
              </a:defRPr>
            </a:pPr>
            <a:r>
              <a:rPr sz="900" b="0">
                <a:solidFill>
                  <a:srgbClr val="57606A"/>
                </a:solidFill>
              </a:rPr>
              <a:t>Hsu Family Portal · Open engineering review · 2026-07-24</a:t>
            </a:r>
          </a:p>
        </p:txBody>
      </p:sp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6BCCF554-ABB9-4E8E-92D4-ADC7AEB8F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704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606A"/>
                </a:solidFill>
              </a:defRPr>
            </a:pPr>
            <a:r>
              <a:rPr sz="1050" b="1">
                <a:solidFill>
                  <a:srgbClr val="57606A"/>
                </a:solidFill>
              </a:rPr>
              <a:t>04</a:t>
            </a:r>
          </a:p>
        </p:txBody>
      </p:sp>
      <p:sp>
        <p:nvSpPr>
          <p:cNvPr id="6" name="before">
            <a:extLst xmlns:a="http://schemas.openxmlformats.org/drawingml/2006/main">
              <a:ext uri="{FF2B5EF4-FFF2-40B4-BE49-F238E27FC236}">
                <a16:creationId xmlns:a16="http://schemas.microsoft.com/office/drawing/2014/main" id="{30A70A13-97EF-4F3F-8B2F-5FA246F16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38300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F222E"/>
                </a:solidFill>
              </a:defRPr>
            </a:pPr>
            <a:r>
              <a:rPr sz="1500" b="1">
                <a:solidFill>
                  <a:srgbClr val="CF222E"/>
                </a:solidFill>
              </a:rPr>
              <a:t>改善前風險</a:t>
            </a:r>
          </a:p>
        </p:txBody>
      </p:sp>
      <p:sp>
        <p:nvSpPr>
          <p:cNvPr id="7" name="after">
            <a:extLst xmlns:a="http://schemas.openxmlformats.org/drawingml/2006/main">
              <a:ext uri="{FF2B5EF4-FFF2-40B4-BE49-F238E27FC236}">
                <a16:creationId xmlns:a16="http://schemas.microsoft.com/office/drawing/2014/main" id="{A1C07570-A2BB-4FAF-AD27-03E06B792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38300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F883D"/>
                </a:solidFill>
              </a:defRPr>
            </a:pPr>
            <a:r>
              <a:rPr sz="1500" b="1">
                <a:solidFill>
                  <a:srgbClr val="1F883D"/>
                </a:solidFill>
              </a:rPr>
              <a:t>目前控制</a:t>
            </a:r>
          </a:p>
        </p:txBody>
      </p:sp>
      <p:sp>
        <p:nvSpPr>
          <p:cNvPr id="8" name="r0">
            <a:extLst xmlns:a="http://schemas.openxmlformats.org/drawingml/2006/main">
              <a:ext uri="{FF2B5EF4-FFF2-40B4-BE49-F238E27FC236}">
                <a16:creationId xmlns:a16="http://schemas.microsoft.com/office/drawing/2014/main" id="{027BC968-B664-4592-9EEE-124758090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438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D1117"/>
                </a:solidFill>
              </a:defRPr>
            </a:pPr>
            <a:r>
              <a:rPr sz="1575" b="0">
                <a:solidFill>
                  <a:srgbClr val="0D1117"/>
                </a:solidFill>
              </a:rPr>
              <a:t>Token 可被腳本讀取</a:t>
            </a:r>
          </a:p>
        </p:txBody>
      </p:sp>
      <p:sp>
        <p:nvSpPr>
          <p:cNvPr id="9" name="arrow0">
            <a:extLst xmlns:a="http://schemas.openxmlformats.org/drawingml/2006/main">
              <a:ext uri="{FF2B5EF4-FFF2-40B4-BE49-F238E27FC236}">
                <a16:creationId xmlns:a16="http://schemas.microsoft.com/office/drawing/2014/main" id="{DFF9C436-ED62-419F-9049-B5F4FE2CC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095500"/>
            <a:ext cx="38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57606A"/>
                </a:solidFill>
              </a:defRPr>
            </a:pPr>
            <a:r>
              <a:rPr sz="1800" b="1">
                <a:solidFill>
                  <a:srgbClr val="57606A"/>
                </a:solidFill>
              </a:rPr>
              <a:t>→</a:t>
            </a:r>
          </a:p>
        </p:txBody>
      </p:sp>
      <p:sp>
        <p:nvSpPr>
          <p:cNvPr id="10" name="c0">
            <a:extLst xmlns:a="http://schemas.openxmlformats.org/drawingml/2006/main">
              <a:ext uri="{FF2B5EF4-FFF2-40B4-BE49-F238E27FC236}">
                <a16:creationId xmlns:a16="http://schemas.microsoft.com/office/drawing/2014/main" id="{CE5966BE-ACFA-437B-AF25-8A1C98490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95500"/>
            <a:ext cx="428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D1117"/>
                </a:solidFill>
              </a:defRPr>
            </a:pPr>
            <a:r>
              <a:rPr sz="1575" b="1">
                <a:solidFill>
                  <a:srgbClr val="0D1117"/>
                </a:solidFill>
              </a:rPr>
              <a:t>HttpOnly Cookie</a:t>
            </a:r>
          </a:p>
        </p:txBody>
      </p:sp>
      <p:sp>
        <p:nvSpPr>
          <p:cNvPr id="11" name="line0">
            <a:extLst xmlns:a="http://schemas.openxmlformats.org/drawingml/2006/main">
              <a:ext uri="{FF2B5EF4-FFF2-40B4-BE49-F238E27FC236}">
                <a16:creationId xmlns:a16="http://schemas.microsoft.com/office/drawing/2014/main" id="{9C634E52-CBC7-47B0-A448-B3E9D76BC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098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7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r1">
            <a:extLst xmlns:a="http://schemas.openxmlformats.org/drawingml/2006/main">
              <a:ext uri="{FF2B5EF4-FFF2-40B4-BE49-F238E27FC236}">
                <a16:creationId xmlns:a16="http://schemas.microsoft.com/office/drawing/2014/main" id="{339D212E-E43E-499F-BC4D-6C2B2DA5C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438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D1117"/>
                </a:solidFill>
              </a:defRPr>
            </a:pPr>
            <a:r>
              <a:rPr sz="1575" b="0">
                <a:solidFill>
                  <a:srgbClr val="0D1117"/>
                </a:solidFill>
              </a:rPr>
              <a:t>跨站偽造寫入</a:t>
            </a:r>
          </a:p>
        </p:txBody>
      </p:sp>
      <p:sp>
        <p:nvSpPr>
          <p:cNvPr id="13" name="arrow1">
            <a:extLst xmlns:a="http://schemas.openxmlformats.org/drawingml/2006/main">
              <a:ext uri="{FF2B5EF4-FFF2-40B4-BE49-F238E27FC236}">
                <a16:creationId xmlns:a16="http://schemas.microsoft.com/office/drawing/2014/main" id="{B46A7E19-8CD9-4725-A81F-2867BE639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743200"/>
            <a:ext cx="38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57606A"/>
                </a:solidFill>
              </a:defRPr>
            </a:pPr>
            <a:r>
              <a:rPr sz="1800" b="1">
                <a:solidFill>
                  <a:srgbClr val="57606A"/>
                </a:solidFill>
              </a:rPr>
              <a:t>→</a:t>
            </a:r>
          </a:p>
        </p:txBody>
      </p:sp>
      <p:sp>
        <p:nvSpPr>
          <p:cNvPr id="14" name="c1">
            <a:extLst xmlns:a="http://schemas.openxmlformats.org/drawingml/2006/main">
              <a:ext uri="{FF2B5EF4-FFF2-40B4-BE49-F238E27FC236}">
                <a16:creationId xmlns:a16="http://schemas.microsoft.com/office/drawing/2014/main" id="{39ED59AC-3784-4552-B46F-12E0C4EDC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28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D1117"/>
                </a:solidFill>
              </a:defRPr>
            </a:pPr>
            <a:r>
              <a:rPr sz="1575" b="1">
                <a:solidFill>
                  <a:srgbClr val="0D1117"/>
                </a:solidFill>
              </a:rPr>
              <a:t>全域 CSRF 驗證</a:t>
            </a:r>
          </a:p>
        </p:txBody>
      </p:sp>
      <p:sp>
        <p:nvSpPr>
          <p:cNvPr id="15" name="line1">
            <a:extLst xmlns:a="http://schemas.openxmlformats.org/drawingml/2006/main">
              <a:ext uri="{FF2B5EF4-FFF2-40B4-BE49-F238E27FC236}">
                <a16:creationId xmlns:a16="http://schemas.microsoft.com/office/drawing/2014/main" id="{B8145A31-8E0F-4B3F-9A3B-9F3D99887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575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7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r2">
            <a:extLst xmlns:a="http://schemas.openxmlformats.org/drawingml/2006/main">
              <a:ext uri="{FF2B5EF4-FFF2-40B4-BE49-F238E27FC236}">
                <a16:creationId xmlns:a16="http://schemas.microsoft.com/office/drawing/2014/main" id="{7184D3E4-BD4A-4CF3-B115-B4483523E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90900"/>
            <a:ext cx="438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D1117"/>
                </a:solidFill>
              </a:defRPr>
            </a:pPr>
            <a:r>
              <a:rPr sz="1575" b="0">
                <a:solidFill>
                  <a:srgbClr val="0D1117"/>
                </a:solidFill>
              </a:rPr>
              <a:t>Refresh Token 明文／重放</a:t>
            </a:r>
          </a:p>
        </p:txBody>
      </p:sp>
      <p:sp>
        <p:nvSpPr>
          <p:cNvPr id="17" name="arrow2">
            <a:extLst xmlns:a="http://schemas.openxmlformats.org/drawingml/2006/main">
              <a:ext uri="{FF2B5EF4-FFF2-40B4-BE49-F238E27FC236}">
                <a16:creationId xmlns:a16="http://schemas.microsoft.com/office/drawing/2014/main" id="{BDF688AF-429E-4F94-B256-772AE6B82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390900"/>
            <a:ext cx="38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57606A"/>
                </a:solidFill>
              </a:defRPr>
            </a:pPr>
            <a:r>
              <a:rPr sz="1800" b="1">
                <a:solidFill>
                  <a:srgbClr val="57606A"/>
                </a:solidFill>
              </a:rPr>
              <a:t>→</a:t>
            </a:r>
          </a:p>
        </p:txBody>
      </p:sp>
      <p:sp>
        <p:nvSpPr>
          <p:cNvPr id="18" name="c2">
            <a:extLst xmlns:a="http://schemas.openxmlformats.org/drawingml/2006/main">
              <a:ext uri="{FF2B5EF4-FFF2-40B4-BE49-F238E27FC236}">
                <a16:creationId xmlns:a16="http://schemas.microsoft.com/office/drawing/2014/main" id="{738700B8-59B8-42FD-A75F-38785D10E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90900"/>
            <a:ext cx="428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D1117"/>
                </a:solidFill>
              </a:defRPr>
            </a:pPr>
            <a:r>
              <a:rPr sz="1575" b="1">
                <a:solidFill>
                  <a:srgbClr val="0D1117"/>
                </a:solidFill>
              </a:rPr>
              <a:t>雜湊＋輪替＋family 撤銷</a:t>
            </a:r>
          </a:p>
        </p:txBody>
      </p:sp>
      <p:sp>
        <p:nvSpPr>
          <p:cNvPr id="19" name="line2">
            <a:extLst xmlns:a="http://schemas.openxmlformats.org/drawingml/2006/main">
              <a:ext uri="{FF2B5EF4-FFF2-40B4-BE49-F238E27FC236}">
                <a16:creationId xmlns:a16="http://schemas.microsoft.com/office/drawing/2014/main" id="{6301C33B-774A-4B64-AB49-A23FCBAB2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052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7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r3">
            <a:extLst xmlns:a="http://schemas.openxmlformats.org/drawingml/2006/main">
              <a:ext uri="{FF2B5EF4-FFF2-40B4-BE49-F238E27FC236}">
                <a16:creationId xmlns:a16="http://schemas.microsoft.com/office/drawing/2014/main" id="{85B502D2-E837-4CB6-B028-8A84A7918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38600"/>
            <a:ext cx="438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D1117"/>
                </a:solidFill>
              </a:defRPr>
            </a:pPr>
            <a:r>
              <a:rPr sz="1575" b="0">
                <a:solidFill>
                  <a:srgbClr val="0D1117"/>
                </a:solidFill>
              </a:rPr>
              <a:t>匿名即時連線</a:t>
            </a:r>
          </a:p>
        </p:txBody>
      </p:sp>
      <p:sp>
        <p:nvSpPr>
          <p:cNvPr id="21" name="arrow3">
            <a:extLst xmlns:a="http://schemas.openxmlformats.org/drawingml/2006/main">
              <a:ext uri="{FF2B5EF4-FFF2-40B4-BE49-F238E27FC236}">
                <a16:creationId xmlns:a16="http://schemas.microsoft.com/office/drawing/2014/main" id="{F43BF75C-0893-45B6-8661-FE13DFA40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038600"/>
            <a:ext cx="38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57606A"/>
                </a:solidFill>
              </a:defRPr>
            </a:pPr>
            <a:r>
              <a:rPr sz="1800" b="1">
                <a:solidFill>
                  <a:srgbClr val="57606A"/>
                </a:solidFill>
              </a:rPr>
              <a:t>→</a:t>
            </a:r>
          </a:p>
        </p:txBody>
      </p:sp>
      <p:sp>
        <p:nvSpPr>
          <p:cNvPr id="22" name="c3">
            <a:extLst xmlns:a="http://schemas.openxmlformats.org/drawingml/2006/main">
              <a:ext uri="{FF2B5EF4-FFF2-40B4-BE49-F238E27FC236}">
                <a16:creationId xmlns:a16="http://schemas.microsoft.com/office/drawing/2014/main" id="{2FC88CEF-B515-4E70-9DF1-99CCCE7A4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38600"/>
            <a:ext cx="428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D1117"/>
                </a:solidFill>
              </a:defRPr>
            </a:pPr>
            <a:r>
              <a:rPr sz="1575" b="1">
                <a:solidFill>
                  <a:srgbClr val="0D1117"/>
                </a:solidFill>
              </a:rPr>
              <a:t>SignalR 強制授權</a:t>
            </a:r>
          </a:p>
        </p:txBody>
      </p:sp>
      <p:sp>
        <p:nvSpPr>
          <p:cNvPr id="23" name="line3">
            <a:extLst xmlns:a="http://schemas.openxmlformats.org/drawingml/2006/main">
              <a:ext uri="{FF2B5EF4-FFF2-40B4-BE49-F238E27FC236}">
                <a16:creationId xmlns:a16="http://schemas.microsoft.com/office/drawing/2014/main" id="{A0559CC8-26CE-466F-8BD4-0E3852B21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529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7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r4">
            <a:extLst xmlns:a="http://schemas.openxmlformats.org/drawingml/2006/main">
              <a:ext uri="{FF2B5EF4-FFF2-40B4-BE49-F238E27FC236}">
                <a16:creationId xmlns:a16="http://schemas.microsoft.com/office/drawing/2014/main" id="{12CF8520-8B86-456F-95D9-2D64DD8E8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86300"/>
            <a:ext cx="438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D1117"/>
                </a:solidFill>
              </a:defRPr>
            </a:pPr>
            <a:r>
              <a:rPr sz="1575" b="0">
                <a:solidFill>
                  <a:srgbClr val="0D1117"/>
                </a:solidFill>
              </a:rPr>
              <a:t>Mongo root／公開 port</a:t>
            </a:r>
          </a:p>
        </p:txBody>
      </p:sp>
      <p:sp>
        <p:nvSpPr>
          <p:cNvPr id="25" name="arrow4">
            <a:extLst xmlns:a="http://schemas.openxmlformats.org/drawingml/2006/main">
              <a:ext uri="{FF2B5EF4-FFF2-40B4-BE49-F238E27FC236}">
                <a16:creationId xmlns:a16="http://schemas.microsoft.com/office/drawing/2014/main" id="{8764D024-F196-43F0-B778-3E3735AAC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686300"/>
            <a:ext cx="38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57606A"/>
                </a:solidFill>
              </a:defRPr>
            </a:pPr>
            <a:r>
              <a:rPr sz="1800" b="1">
                <a:solidFill>
                  <a:srgbClr val="57606A"/>
                </a:solidFill>
              </a:rPr>
              <a:t>→</a:t>
            </a:r>
          </a:p>
        </p:txBody>
      </p:sp>
      <p:sp>
        <p:nvSpPr>
          <p:cNvPr id="26" name="c4">
            <a:extLst xmlns:a="http://schemas.openxmlformats.org/drawingml/2006/main">
              <a:ext uri="{FF2B5EF4-FFF2-40B4-BE49-F238E27FC236}">
                <a16:creationId xmlns:a16="http://schemas.microsoft.com/office/drawing/2014/main" id="{09D60236-D1B7-410B-A5E5-FA711131D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86300"/>
            <a:ext cx="428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D1117"/>
                </a:solidFill>
              </a:defRPr>
            </a:pPr>
            <a:r>
              <a:rPr sz="1575" b="1">
                <a:solidFill>
                  <a:srgbClr val="0D1117"/>
                </a:solidFill>
              </a:rPr>
              <a:t>網路隔離＋最小權限</a:t>
            </a:r>
          </a:p>
        </p:txBody>
      </p:sp>
      <p:sp>
        <p:nvSpPr>
          <p:cNvPr id="27" name="line4">
            <a:extLst xmlns:a="http://schemas.openxmlformats.org/drawingml/2006/main">
              <a:ext uri="{FF2B5EF4-FFF2-40B4-BE49-F238E27FC236}">
                <a16:creationId xmlns:a16="http://schemas.microsoft.com/office/drawing/2014/main" id="{3073EC27-5017-465A-BC57-FE0696A1A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006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7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r5">
            <a:extLst xmlns:a="http://schemas.openxmlformats.org/drawingml/2006/main">
              <a:ext uri="{FF2B5EF4-FFF2-40B4-BE49-F238E27FC236}">
                <a16:creationId xmlns:a16="http://schemas.microsoft.com/office/drawing/2014/main" id="{B5691A43-92F9-4B40-AD6D-554C2C5CE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0"/>
            <a:ext cx="438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D1117"/>
                </a:solidFill>
              </a:defRPr>
            </a:pPr>
            <a:r>
              <a:rPr sz="1575" b="0">
                <a:solidFill>
                  <a:srgbClr val="0D1117"/>
                </a:solidFill>
              </a:rPr>
              <a:t>秘密寫入版控</a:t>
            </a:r>
          </a:p>
        </p:txBody>
      </p:sp>
      <p:sp>
        <p:nvSpPr>
          <p:cNvPr id="29" name="arrow5">
            <a:extLst xmlns:a="http://schemas.openxmlformats.org/drawingml/2006/main">
              <a:ext uri="{FF2B5EF4-FFF2-40B4-BE49-F238E27FC236}">
                <a16:creationId xmlns:a16="http://schemas.microsoft.com/office/drawing/2014/main" id="{35F60601-9070-4F85-8850-8C166630F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5334000"/>
            <a:ext cx="38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57606A"/>
                </a:solidFill>
              </a:defRPr>
            </a:pPr>
            <a:r>
              <a:rPr sz="1800" b="1">
                <a:solidFill>
                  <a:srgbClr val="57606A"/>
                </a:solidFill>
              </a:rPr>
              <a:t>→</a:t>
            </a:r>
          </a:p>
        </p:txBody>
      </p:sp>
      <p:sp>
        <p:nvSpPr>
          <p:cNvPr id="30" name="c5">
            <a:extLst xmlns:a="http://schemas.openxmlformats.org/drawingml/2006/main">
              <a:ext uri="{FF2B5EF4-FFF2-40B4-BE49-F238E27FC236}">
                <a16:creationId xmlns:a16="http://schemas.microsoft.com/office/drawing/2014/main" id="{9DC97E4C-81EB-4BDF-9262-28B669EA1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334000"/>
            <a:ext cx="428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D1117"/>
                </a:solidFill>
              </a:defRPr>
            </a:pPr>
            <a:r>
              <a:rPr sz="1575" b="1">
                <a:solidFill>
                  <a:srgbClr val="0D1117"/>
                </a:solidFill>
              </a:rPr>
              <a:t>外部注入＋缺值即失敗</a:t>
            </a:r>
          </a:p>
        </p:txBody>
      </p:sp>
    </p:spTree>
    <p:extLst>
      <p:ext uri="{BB962C8B-B14F-4D97-AF65-F5344CB8AC3E}">
        <p14:creationId xmlns:p14="http://schemas.microsoft.com/office/powerpoint/2010/main" val="161138241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section">
            <a:extLst xmlns:a="http://schemas.openxmlformats.org/drawingml/2006/main">
              <a:ext uri="{FF2B5EF4-FFF2-40B4-BE49-F238E27FC236}">
                <a16:creationId xmlns:a16="http://schemas.microsoft.com/office/drawing/2014/main" id="{E4063176-21BA-4F2F-9D87-065214EC8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883D"/>
                </a:solidFill>
              </a:defRPr>
            </a:pPr>
            <a:r>
              <a:rPr sz="1050" b="1">
                <a:solidFill>
                  <a:srgbClr val="1F883D"/>
                </a:solidFill>
              </a:rPr>
              <a:t>SESSION SECURITY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48C4A41-7A57-42C5-8054-A2797A5AC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1125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D1117"/>
                </a:solidFill>
              </a:defRPr>
            </a:pPr>
            <a:r>
              <a:rPr sz="3600" b="1">
                <a:solidFill>
                  <a:srgbClr val="0D1117"/>
                </a:solidFill>
              </a:rPr>
              <a:t>登入工作階段採縱深防禦，而非只依賴 JWT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7C079E35-7332-4064-9A94-9469B2A8F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7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F437F4B9-1437-426F-B80F-9648A7A2D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809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7606A"/>
                </a:solidFill>
              </a:defRPr>
            </a:pPr>
            <a:r>
              <a:rPr sz="900" b="0">
                <a:solidFill>
                  <a:srgbClr val="57606A"/>
                </a:solidFill>
              </a:rPr>
              <a:t>Hsu Family Portal · Open engineering review · 2026-07-24</a:t>
            </a:r>
          </a:p>
        </p:txBody>
      </p:sp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C5C9E8FF-C2B5-4650-8ADF-F58D5ACE5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704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606A"/>
                </a:solidFill>
              </a:defRPr>
            </a:pPr>
            <a:r>
              <a:rPr sz="1050" b="1">
                <a:solidFill>
                  <a:srgbClr val="57606A"/>
                </a:solidFill>
              </a:rPr>
              <a:t>05</a:t>
            </a:r>
          </a:p>
        </p:txBody>
      </p:sp>
      <p:sp>
        <p:nvSpPr>
          <p:cNvPr id="6" name="step0">
            <a:extLst xmlns:a="http://schemas.openxmlformats.org/drawingml/2006/main">
              <a:ext uri="{FF2B5EF4-FFF2-40B4-BE49-F238E27FC236}">
                <a16:creationId xmlns:a16="http://schemas.microsoft.com/office/drawing/2014/main" id="{5C8CE077-1347-4391-A7D2-774235BFE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47875"/>
            <a:ext cx="195262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9525">
            <a:solidFill>
              <a:srgbClr val="D0D7DE"/>
            </a:solidFill>
            <a:prstDash val="solid"/>
          </a:ln>
        </p:spPr>
      </p:sp>
      <p:sp>
        <p:nvSpPr>
          <p:cNvPr id="7" name="num0">
            <a:extLst xmlns:a="http://schemas.openxmlformats.org/drawingml/2006/main">
              <a:ext uri="{FF2B5EF4-FFF2-40B4-BE49-F238E27FC236}">
                <a16:creationId xmlns:a16="http://schemas.microsoft.com/office/drawing/2014/main" id="{9C168C6E-6F68-41DD-AE86-164F62D39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38375"/>
            <a:ext cx="47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F883D"/>
                </a:solidFill>
              </a:defRPr>
            </a:pPr>
            <a:r>
              <a:rPr sz="2400" b="1">
                <a:solidFill>
                  <a:srgbClr val="1F883D"/>
                </a:solidFill>
              </a:rPr>
              <a:t>1</a:t>
            </a:r>
          </a:p>
        </p:txBody>
      </p:sp>
      <p:sp>
        <p:nvSpPr>
          <p:cNvPr id="8" name="st0">
            <a:extLst xmlns:a="http://schemas.openxmlformats.org/drawingml/2006/main">
              <a:ext uri="{FF2B5EF4-FFF2-40B4-BE49-F238E27FC236}">
                <a16:creationId xmlns:a16="http://schemas.microsoft.com/office/drawing/2014/main" id="{CA068541-F1E3-4706-B8BE-9744A3935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1571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D1117"/>
                </a:solidFill>
              </a:defRPr>
            </a:pPr>
            <a:r>
              <a:rPr sz="1800" b="1">
                <a:solidFill>
                  <a:srgbClr val="0D1117"/>
                </a:solidFill>
              </a:rPr>
              <a:t>取得 CSRF</a:t>
            </a:r>
          </a:p>
        </p:txBody>
      </p:sp>
      <p:sp>
        <p:nvSpPr>
          <p:cNvPr id="9" name="sd0">
            <a:extLst xmlns:a="http://schemas.openxmlformats.org/drawingml/2006/main">
              <a:ext uri="{FF2B5EF4-FFF2-40B4-BE49-F238E27FC236}">
                <a16:creationId xmlns:a16="http://schemas.microsoft.com/office/drawing/2014/main" id="{5F4E70CD-1D3F-48AC-9384-0BDDB977E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00450"/>
            <a:ext cx="1571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7606A"/>
                </a:solidFill>
              </a:defRPr>
            </a:pPr>
            <a:r>
              <a:rPr sz="1350" b="0">
                <a:solidFill>
                  <a:srgbClr val="57606A"/>
                </a:solidFill>
              </a:rPr>
              <a:t>建立 request token</a:t>
            </a:r>
          </a:p>
        </p:txBody>
      </p:sp>
      <p:sp>
        <p:nvSpPr>
          <p:cNvPr id="10" name="step1">
            <a:extLst xmlns:a="http://schemas.openxmlformats.org/drawingml/2006/main">
              <a:ext uri="{FF2B5EF4-FFF2-40B4-BE49-F238E27FC236}">
                <a16:creationId xmlns:a16="http://schemas.microsoft.com/office/drawing/2014/main" id="{F1B25794-B3D3-4193-A2EA-8858DF938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047875"/>
            <a:ext cx="195262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9525">
            <a:solidFill>
              <a:srgbClr val="D0D7DE"/>
            </a:solidFill>
            <a:prstDash val="solid"/>
          </a:ln>
        </p:spPr>
      </p:sp>
      <p:sp>
        <p:nvSpPr>
          <p:cNvPr id="11" name="num1">
            <a:extLst xmlns:a="http://schemas.openxmlformats.org/drawingml/2006/main">
              <a:ext uri="{FF2B5EF4-FFF2-40B4-BE49-F238E27FC236}">
                <a16:creationId xmlns:a16="http://schemas.microsoft.com/office/drawing/2014/main" id="{4B1A6009-AD28-496E-9CCA-C415F1511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238375"/>
            <a:ext cx="47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F883D"/>
                </a:solidFill>
              </a:defRPr>
            </a:pPr>
            <a:r>
              <a:rPr sz="2400" b="1">
                <a:solidFill>
                  <a:srgbClr val="1F883D"/>
                </a:solidFill>
              </a:rPr>
              <a:t>2</a:t>
            </a:r>
          </a:p>
        </p:txBody>
      </p:sp>
      <p:sp>
        <p:nvSpPr>
          <p:cNvPr id="12" name="st1">
            <a:extLst xmlns:a="http://schemas.openxmlformats.org/drawingml/2006/main">
              <a:ext uri="{FF2B5EF4-FFF2-40B4-BE49-F238E27FC236}">
                <a16:creationId xmlns:a16="http://schemas.microsoft.com/office/drawing/2014/main" id="{36963EDD-12C8-4927-9163-6761A6325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57500"/>
            <a:ext cx="1571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D1117"/>
                </a:solidFill>
              </a:defRPr>
            </a:pPr>
            <a:r>
              <a:rPr sz="1800" b="1">
                <a:solidFill>
                  <a:srgbClr val="0D1117"/>
                </a:solidFill>
              </a:rPr>
              <a:t>驗證登入</a:t>
            </a:r>
          </a:p>
        </p:txBody>
      </p:sp>
      <p:sp>
        <p:nvSpPr>
          <p:cNvPr id="13" name="sd1">
            <a:extLst xmlns:a="http://schemas.openxmlformats.org/drawingml/2006/main">
              <a:ext uri="{FF2B5EF4-FFF2-40B4-BE49-F238E27FC236}">
                <a16:creationId xmlns:a16="http://schemas.microsoft.com/office/drawing/2014/main" id="{A9F6DEAA-AF53-4C37-905A-336ADEF4B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600450"/>
            <a:ext cx="1571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7606A"/>
                </a:solidFill>
              </a:defRPr>
            </a:pPr>
            <a:r>
              <a:rPr sz="1350" b="0">
                <a:solidFill>
                  <a:srgbClr val="57606A"/>
                </a:solidFill>
              </a:rPr>
              <a:t>Argon2id＋rate limit</a:t>
            </a:r>
          </a:p>
        </p:txBody>
      </p:sp>
      <p:sp>
        <p:nvSpPr>
          <p:cNvPr id="14" name="step2">
            <a:extLst xmlns:a="http://schemas.openxmlformats.org/drawingml/2006/main">
              <a:ext uri="{FF2B5EF4-FFF2-40B4-BE49-F238E27FC236}">
                <a16:creationId xmlns:a16="http://schemas.microsoft.com/office/drawing/2014/main" id="{D941A429-20A1-4B55-89DF-2D156C05B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047875"/>
            <a:ext cx="195262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9525">
            <a:solidFill>
              <a:srgbClr val="D0D7DE"/>
            </a:solidFill>
            <a:prstDash val="solid"/>
          </a:ln>
        </p:spPr>
      </p:sp>
      <p:sp>
        <p:nvSpPr>
          <p:cNvPr id="15" name="num2">
            <a:extLst xmlns:a="http://schemas.openxmlformats.org/drawingml/2006/main">
              <a:ext uri="{FF2B5EF4-FFF2-40B4-BE49-F238E27FC236}">
                <a16:creationId xmlns:a16="http://schemas.microsoft.com/office/drawing/2014/main" id="{FABCEA22-6E1D-4F58-AF91-A07EDB618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238375"/>
            <a:ext cx="47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F883D"/>
                </a:solidFill>
              </a:defRPr>
            </a:pPr>
            <a:r>
              <a:rPr sz="2400" b="1">
                <a:solidFill>
                  <a:srgbClr val="1F883D"/>
                </a:solidFill>
              </a:rPr>
              <a:t>3</a:t>
            </a:r>
          </a:p>
        </p:txBody>
      </p:sp>
      <p:sp>
        <p:nvSpPr>
          <p:cNvPr id="16" name="st2">
            <a:extLst xmlns:a="http://schemas.openxmlformats.org/drawingml/2006/main">
              <a:ext uri="{FF2B5EF4-FFF2-40B4-BE49-F238E27FC236}">
                <a16:creationId xmlns:a16="http://schemas.microsoft.com/office/drawing/2014/main" id="{2C7E1218-9FF0-4312-BFA7-B062F99F4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857500"/>
            <a:ext cx="1571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D1117"/>
                </a:solidFill>
              </a:defRPr>
            </a:pPr>
            <a:r>
              <a:rPr sz="1800" b="1">
                <a:solidFill>
                  <a:srgbClr val="0D1117"/>
                </a:solidFill>
              </a:rPr>
              <a:t>發放 Cookie</a:t>
            </a:r>
          </a:p>
        </p:txBody>
      </p:sp>
      <p:sp>
        <p:nvSpPr>
          <p:cNvPr id="17" name="sd2">
            <a:extLst xmlns:a="http://schemas.openxmlformats.org/drawingml/2006/main">
              <a:ext uri="{FF2B5EF4-FFF2-40B4-BE49-F238E27FC236}">
                <a16:creationId xmlns:a16="http://schemas.microsoft.com/office/drawing/2014/main" id="{AFAAB827-9A99-403D-81CC-3485BB6CC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600450"/>
            <a:ext cx="1571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7606A"/>
                </a:solidFill>
              </a:defRPr>
            </a:pPr>
            <a:r>
              <a:rPr sz="1350" b="0">
                <a:solidFill>
                  <a:srgbClr val="57606A"/>
                </a:solidFill>
              </a:rPr>
              <a:t>HttpOnly／SameSite／Secure</a:t>
            </a:r>
          </a:p>
        </p:txBody>
      </p:sp>
      <p:sp>
        <p:nvSpPr>
          <p:cNvPr id="18" name="step3">
            <a:extLst xmlns:a="http://schemas.openxmlformats.org/drawingml/2006/main">
              <a:ext uri="{FF2B5EF4-FFF2-40B4-BE49-F238E27FC236}">
                <a16:creationId xmlns:a16="http://schemas.microsoft.com/office/drawing/2014/main" id="{08D2D47E-70F4-4F19-88AF-6D0B66950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047875"/>
            <a:ext cx="195262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9525">
            <a:solidFill>
              <a:srgbClr val="D0D7DE"/>
            </a:solidFill>
            <a:prstDash val="solid"/>
          </a:ln>
        </p:spPr>
      </p:sp>
      <p:sp>
        <p:nvSpPr>
          <p:cNvPr id="19" name="num3">
            <a:extLst xmlns:a="http://schemas.openxmlformats.org/drawingml/2006/main">
              <a:ext uri="{FF2B5EF4-FFF2-40B4-BE49-F238E27FC236}">
                <a16:creationId xmlns:a16="http://schemas.microsoft.com/office/drawing/2014/main" id="{29BE6E44-B821-488E-BAFD-0892BE9AD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238375"/>
            <a:ext cx="47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F883D"/>
                </a:solidFill>
              </a:defRPr>
            </a:pPr>
            <a:r>
              <a:rPr sz="2400" b="1">
                <a:solidFill>
                  <a:srgbClr val="1F883D"/>
                </a:solidFill>
              </a:rPr>
              <a:t>4</a:t>
            </a:r>
          </a:p>
        </p:txBody>
      </p:sp>
      <p:sp>
        <p:nvSpPr>
          <p:cNvPr id="20" name="st3">
            <a:extLst xmlns:a="http://schemas.openxmlformats.org/drawingml/2006/main">
              <a:ext uri="{FF2B5EF4-FFF2-40B4-BE49-F238E27FC236}">
                <a16:creationId xmlns:a16="http://schemas.microsoft.com/office/drawing/2014/main" id="{E61E658B-EC0A-4536-A540-83B426F99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857500"/>
            <a:ext cx="1571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D1117"/>
                </a:solidFill>
              </a:defRPr>
            </a:pPr>
            <a:r>
              <a:rPr sz="1800" b="1">
                <a:solidFill>
                  <a:srgbClr val="0D1117"/>
                </a:solidFill>
              </a:rPr>
              <a:t>安全續期</a:t>
            </a:r>
          </a:p>
        </p:txBody>
      </p:sp>
      <p:sp>
        <p:nvSpPr>
          <p:cNvPr id="21" name="sd3">
            <a:extLst xmlns:a="http://schemas.openxmlformats.org/drawingml/2006/main">
              <a:ext uri="{FF2B5EF4-FFF2-40B4-BE49-F238E27FC236}">
                <a16:creationId xmlns:a16="http://schemas.microsoft.com/office/drawing/2014/main" id="{DE9EA760-9147-43F2-AF62-E79AB2961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600450"/>
            <a:ext cx="1571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7606A"/>
                </a:solidFill>
              </a:defRPr>
            </a:pPr>
            <a:r>
              <a:rPr sz="1350" b="0">
                <a:solidFill>
                  <a:srgbClr val="57606A"/>
                </a:solidFill>
              </a:rPr>
              <a:t>refresh hash 原子輪替</a:t>
            </a:r>
          </a:p>
        </p:txBody>
      </p:sp>
      <p:sp>
        <p:nvSpPr>
          <p:cNvPr id="22" name="step4">
            <a:extLst xmlns:a="http://schemas.openxmlformats.org/drawingml/2006/main">
              <a:ext uri="{FF2B5EF4-FFF2-40B4-BE49-F238E27FC236}">
                <a16:creationId xmlns:a16="http://schemas.microsoft.com/office/drawing/2014/main" id="{51916841-387B-4602-B5AD-D06F949CD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047875"/>
            <a:ext cx="195262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C5"/>
          </a:solidFill>
          <a:ln xmlns:a="http://schemas.openxmlformats.org/drawingml/2006/main" w="9525">
            <a:solidFill>
              <a:srgbClr val="D0D7DE"/>
            </a:solidFill>
            <a:prstDash val="solid"/>
          </a:ln>
        </p:spPr>
      </p:sp>
      <p:sp>
        <p:nvSpPr>
          <p:cNvPr id="23" name="num4">
            <a:extLst xmlns:a="http://schemas.openxmlformats.org/drawingml/2006/main">
              <a:ext uri="{FF2B5EF4-FFF2-40B4-BE49-F238E27FC236}">
                <a16:creationId xmlns:a16="http://schemas.microsoft.com/office/drawing/2014/main" id="{09316C26-8B75-433D-80BC-BAF641B11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238375"/>
            <a:ext cx="47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BF8700"/>
                </a:solidFill>
              </a:defRPr>
            </a:pPr>
            <a:r>
              <a:rPr sz="2400" b="1">
                <a:solidFill>
                  <a:srgbClr val="BF8700"/>
                </a:solidFill>
              </a:rPr>
              <a:t>5</a:t>
            </a:r>
          </a:p>
        </p:txBody>
      </p:sp>
      <p:sp>
        <p:nvSpPr>
          <p:cNvPr id="24" name="st4">
            <a:extLst xmlns:a="http://schemas.openxmlformats.org/drawingml/2006/main">
              <a:ext uri="{FF2B5EF4-FFF2-40B4-BE49-F238E27FC236}">
                <a16:creationId xmlns:a16="http://schemas.microsoft.com/office/drawing/2014/main" id="{2A58C686-33B8-443D-BE4B-41C935168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857500"/>
            <a:ext cx="1571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D1117"/>
                </a:solidFill>
              </a:defRPr>
            </a:pPr>
            <a:r>
              <a:rPr sz="1800" b="1">
                <a:solidFill>
                  <a:srgbClr val="0D1117"/>
                </a:solidFill>
              </a:rPr>
              <a:t>偵測重放</a:t>
            </a:r>
          </a:p>
        </p:txBody>
      </p:sp>
      <p:sp>
        <p:nvSpPr>
          <p:cNvPr id="25" name="sd4">
            <a:extLst xmlns:a="http://schemas.openxmlformats.org/drawingml/2006/main">
              <a:ext uri="{FF2B5EF4-FFF2-40B4-BE49-F238E27FC236}">
                <a16:creationId xmlns:a16="http://schemas.microsoft.com/office/drawing/2014/main" id="{F0B1C03A-5285-40AB-9FD8-FD3546A54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600450"/>
            <a:ext cx="1571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7606A"/>
                </a:solidFill>
              </a:defRPr>
            </a:pPr>
            <a:r>
              <a:rPr sz="1350" b="0">
                <a:solidFill>
                  <a:srgbClr val="57606A"/>
                </a:solidFill>
              </a:rPr>
              <a:t>撤銷整個 token family</a:t>
            </a:r>
          </a:p>
        </p:txBody>
      </p:sp>
      <p:sp>
        <p:nvSpPr>
          <p:cNvPr id="26" name="tabs">
            <a:extLst xmlns:a="http://schemas.openxmlformats.org/drawingml/2006/main">
              <a:ext uri="{FF2B5EF4-FFF2-40B4-BE49-F238E27FC236}">
                <a16:creationId xmlns:a16="http://schemas.microsoft.com/office/drawing/2014/main" id="{B215999E-23D3-41D7-A55D-0A90AB05A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0"/>
            <a:ext cx="111252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969DA"/>
                </a:solidFill>
              </a:defRPr>
            </a:pPr>
            <a:r>
              <a:rPr sz="1875" b="1">
                <a:solidFill>
                  <a:srgbClr val="0969DA"/>
                </a:solidFill>
              </a:rPr>
              <a:t>跨分頁 refresh 由 Web Locks 序列化，避免正常競態被誤判為攻擊。</a:t>
            </a:r>
          </a:p>
        </p:txBody>
      </p:sp>
    </p:spTree>
    <p:extLst>
      <p:ext uri="{BB962C8B-B14F-4D97-AF65-F5344CB8AC3E}">
        <p14:creationId xmlns:p14="http://schemas.microsoft.com/office/powerpoint/2010/main" val="32003277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">
            <a:extLst xmlns:a="http://schemas.openxmlformats.org/drawingml/2006/main">
              <a:ext uri="{FF2B5EF4-FFF2-40B4-BE49-F238E27FC236}">
                <a16:creationId xmlns:a16="http://schemas.microsoft.com/office/drawing/2014/main" id="{724A9AB5-AA15-446D-8B0A-1FC1F5437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883D"/>
                </a:solidFill>
              </a:defRPr>
            </a:pPr>
            <a:r>
              <a:rPr sz="1050" b="1">
                <a:solidFill>
                  <a:srgbClr val="1F883D"/>
                </a:solidFill>
              </a:rPr>
              <a:t>RUNTIME &amp; SUPPLY CHAIN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2D7B453-33DB-43F7-828F-F54EAB084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1125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D1117"/>
                </a:solidFill>
              </a:defRPr>
            </a:pPr>
            <a:r>
              <a:rPr sz="3600" b="1">
                <a:solidFill>
                  <a:srgbClr val="0D1117"/>
                </a:solidFill>
              </a:rPr>
              <a:t>部署安全已涵蓋最小權限、持久化與可重現性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03BD6A26-3646-47E3-8957-5D587007E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7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BB3403D4-9CD4-452A-8393-C301833C6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809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7606A"/>
                </a:solidFill>
              </a:defRPr>
            </a:pPr>
            <a:r>
              <a:rPr sz="900" b="0">
                <a:solidFill>
                  <a:srgbClr val="57606A"/>
                </a:solidFill>
              </a:rPr>
              <a:t>Hsu Family Portal · Open engineering review · 2026-07-24</a:t>
            </a:r>
          </a:p>
        </p:txBody>
      </p:sp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97F61EEB-B1A0-42F7-8A8B-7BCCA02DC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704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606A"/>
                </a:solidFill>
              </a:defRPr>
            </a:pPr>
            <a:r>
              <a:rPr sz="1050" b="1">
                <a:solidFill>
                  <a:srgbClr val="57606A"/>
                </a:solidFill>
              </a:rPr>
              <a:t>06</a:t>
            </a:r>
          </a:p>
        </p:txBody>
      </p:sp>
      <p:sp>
        <p:nvSpPr>
          <p:cNvPr id="6" name="item0">
            <a:extLst xmlns:a="http://schemas.openxmlformats.org/drawingml/2006/main">
              <a:ext uri="{FF2B5EF4-FFF2-40B4-BE49-F238E27FC236}">
                <a16:creationId xmlns:a16="http://schemas.microsoft.com/office/drawing/2014/main" id="{6BC74217-C425-4815-A241-CC1683C96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62125"/>
            <a:ext cx="5143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9525">
            <a:solidFill>
              <a:srgbClr val="D0D7DE"/>
            </a:solidFill>
            <a:prstDash val="solid"/>
          </a:ln>
        </p:spPr>
      </p:sp>
      <p:sp>
        <p:nvSpPr>
          <p:cNvPr id="7" name="ih0">
            <a:extLst xmlns:a="http://schemas.openxmlformats.org/drawingml/2006/main">
              <a:ext uri="{FF2B5EF4-FFF2-40B4-BE49-F238E27FC236}">
                <a16:creationId xmlns:a16="http://schemas.microsoft.com/office/drawing/2014/main" id="{B42BB30A-989C-4DED-9F5E-C32E6E4CE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05000"/>
            <a:ext cx="4724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D1117"/>
                </a:solidFill>
              </a:defRPr>
            </a:pPr>
            <a:r>
              <a:rPr sz="1725" b="1">
                <a:solidFill>
                  <a:srgbClr val="0D1117"/>
                </a:solidFill>
              </a:rPr>
              <a:t>非 root 容器</a:t>
            </a:r>
          </a:p>
        </p:txBody>
      </p:sp>
      <p:sp>
        <p:nvSpPr>
          <p:cNvPr id="8" name="ib0">
            <a:extLst xmlns:a="http://schemas.openxmlformats.org/drawingml/2006/main">
              <a:ext uri="{FF2B5EF4-FFF2-40B4-BE49-F238E27FC236}">
                <a16:creationId xmlns:a16="http://schemas.microsoft.com/office/drawing/2014/main" id="{13A4D8B6-1B70-4A5A-A4DF-6E495C9A9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14575"/>
            <a:ext cx="4724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7606A"/>
                </a:solidFill>
              </a:defRPr>
            </a:pPr>
            <a:r>
              <a:rPr sz="1350" b="0">
                <a:solidFill>
                  <a:srgbClr val="57606A"/>
                </a:solidFill>
              </a:rPr>
              <a:t>Backend 使用 app 帳號執行</a:t>
            </a:r>
          </a:p>
        </p:txBody>
      </p:sp>
      <p:sp>
        <p:nvSpPr>
          <p:cNvPr id="9" name="item1">
            <a:extLst xmlns:a="http://schemas.openxmlformats.org/drawingml/2006/main">
              <a:ext uri="{FF2B5EF4-FFF2-40B4-BE49-F238E27FC236}">
                <a16:creationId xmlns:a16="http://schemas.microsoft.com/office/drawing/2014/main" id="{E4BA8F89-41D0-4436-89B0-8699CF5D6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62125"/>
            <a:ext cx="5143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9525">
            <a:solidFill>
              <a:srgbClr val="D0D7DE"/>
            </a:solidFill>
            <a:prstDash val="solid"/>
          </a:ln>
        </p:spPr>
      </p:sp>
      <p:sp>
        <p:nvSpPr>
          <p:cNvPr id="10" name="ih1">
            <a:extLst xmlns:a="http://schemas.openxmlformats.org/drawingml/2006/main">
              <a:ext uri="{FF2B5EF4-FFF2-40B4-BE49-F238E27FC236}">
                <a16:creationId xmlns:a16="http://schemas.microsoft.com/office/drawing/2014/main" id="{E6C3F7A6-5C36-4C65-8B8E-0D22F9618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905000"/>
            <a:ext cx="4724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D1117"/>
                </a:solidFill>
              </a:defRPr>
            </a:pPr>
            <a:r>
              <a:rPr sz="1725" b="1">
                <a:solidFill>
                  <a:srgbClr val="0D1117"/>
                </a:solidFill>
              </a:rPr>
              <a:t>Mongo 最小權限</a:t>
            </a:r>
          </a:p>
        </p:txBody>
      </p:sp>
      <p:sp>
        <p:nvSpPr>
          <p:cNvPr id="11" name="ib1">
            <a:extLst xmlns:a="http://schemas.openxmlformats.org/drawingml/2006/main">
              <a:ext uri="{FF2B5EF4-FFF2-40B4-BE49-F238E27FC236}">
                <a16:creationId xmlns:a16="http://schemas.microsoft.com/office/drawing/2014/main" id="{316B6577-DB3F-4BF5-AE5E-55B29C0BA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314575"/>
            <a:ext cx="4724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7606A"/>
                </a:solidFill>
              </a:defRPr>
            </a:pPr>
            <a:r>
              <a:rPr sz="1350" b="0">
                <a:solidFill>
                  <a:srgbClr val="57606A"/>
                </a:solidFill>
              </a:rPr>
              <a:t>應用帳號僅 FamilyPortal readWrite</a:t>
            </a:r>
          </a:p>
        </p:txBody>
      </p:sp>
      <p:sp>
        <p:nvSpPr>
          <p:cNvPr id="12" name="item2">
            <a:extLst xmlns:a="http://schemas.openxmlformats.org/drawingml/2006/main">
              <a:ext uri="{FF2B5EF4-FFF2-40B4-BE49-F238E27FC236}">
                <a16:creationId xmlns:a16="http://schemas.microsoft.com/office/drawing/2014/main" id="{8FB8E80A-CF54-4DD0-A2CE-C3C3FF79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5143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9525">
            <a:solidFill>
              <a:srgbClr val="D0D7DE"/>
            </a:solidFill>
            <a:prstDash val="solid"/>
          </a:ln>
        </p:spPr>
      </p:sp>
      <p:sp>
        <p:nvSpPr>
          <p:cNvPr id="13" name="ih2">
            <a:extLst xmlns:a="http://schemas.openxmlformats.org/drawingml/2006/main">
              <a:ext uri="{FF2B5EF4-FFF2-40B4-BE49-F238E27FC236}">
                <a16:creationId xmlns:a16="http://schemas.microsoft.com/office/drawing/2014/main" id="{D4FF596C-AE62-4953-B17B-0FD64E084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86125"/>
            <a:ext cx="4724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D1117"/>
                </a:solidFill>
              </a:defRPr>
            </a:pPr>
            <a:r>
              <a:rPr sz="1725" b="1">
                <a:solidFill>
                  <a:srgbClr val="0D1117"/>
                </a:solidFill>
              </a:rPr>
              <a:t>既有 volume 可升級</a:t>
            </a:r>
          </a:p>
        </p:txBody>
      </p:sp>
      <p:sp>
        <p:nvSpPr>
          <p:cNvPr id="14" name="ib2">
            <a:extLst xmlns:a="http://schemas.openxmlformats.org/drawingml/2006/main">
              <a:ext uri="{FF2B5EF4-FFF2-40B4-BE49-F238E27FC236}">
                <a16:creationId xmlns:a16="http://schemas.microsoft.com/office/drawing/2014/main" id="{F311E850-EBA9-4854-8E34-8977D76BE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95700"/>
            <a:ext cx="4724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7606A"/>
                </a:solidFill>
              </a:defRPr>
            </a:pPr>
            <a:r>
              <a:rPr sz="1350" b="0">
                <a:solidFill>
                  <a:srgbClr val="57606A"/>
                </a:solidFill>
              </a:rPr>
              <a:t>冪等 user-init 每次部署確認</a:t>
            </a:r>
          </a:p>
        </p:txBody>
      </p:sp>
      <p:sp>
        <p:nvSpPr>
          <p:cNvPr id="15" name="item3">
            <a:extLst xmlns:a="http://schemas.openxmlformats.org/drawingml/2006/main">
              <a:ext uri="{FF2B5EF4-FFF2-40B4-BE49-F238E27FC236}">
                <a16:creationId xmlns:a16="http://schemas.microsoft.com/office/drawing/2014/main" id="{6B0D6A96-D1C0-44AD-8A9E-30F60AB43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143250"/>
            <a:ext cx="5143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9525">
            <a:solidFill>
              <a:srgbClr val="D0D7DE"/>
            </a:solidFill>
            <a:prstDash val="solid"/>
          </a:ln>
        </p:spPr>
      </p:sp>
      <p:sp>
        <p:nvSpPr>
          <p:cNvPr id="16" name="ih3">
            <a:extLst xmlns:a="http://schemas.openxmlformats.org/drawingml/2006/main">
              <a:ext uri="{FF2B5EF4-FFF2-40B4-BE49-F238E27FC236}">
                <a16:creationId xmlns:a16="http://schemas.microsoft.com/office/drawing/2014/main" id="{DBE6177F-8ED3-47FB-B312-B6A75EA9E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286125"/>
            <a:ext cx="4724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D1117"/>
                </a:solidFill>
              </a:defRPr>
            </a:pPr>
            <a:r>
              <a:rPr sz="1725" b="1">
                <a:solidFill>
                  <a:srgbClr val="0D1117"/>
                </a:solidFill>
              </a:rPr>
              <a:t>金鑰不因重啟遺失</a:t>
            </a:r>
          </a:p>
        </p:txBody>
      </p:sp>
      <p:sp>
        <p:nvSpPr>
          <p:cNvPr id="17" name="ib3">
            <a:extLst xmlns:a="http://schemas.openxmlformats.org/drawingml/2006/main">
              <a:ext uri="{FF2B5EF4-FFF2-40B4-BE49-F238E27FC236}">
                <a16:creationId xmlns:a16="http://schemas.microsoft.com/office/drawing/2014/main" id="{989C2A3C-1507-4FB8-A000-89D7E5BC7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695700"/>
            <a:ext cx="4724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7606A"/>
                </a:solidFill>
              </a:defRPr>
            </a:pPr>
            <a:r>
              <a:rPr sz="1350" b="0">
                <a:solidFill>
                  <a:srgbClr val="57606A"/>
                </a:solidFill>
              </a:rPr>
              <a:t>Data Protection 使用具名 volume</a:t>
            </a:r>
          </a:p>
        </p:txBody>
      </p:sp>
      <p:sp>
        <p:nvSpPr>
          <p:cNvPr id="18" name="item4">
            <a:extLst xmlns:a="http://schemas.openxmlformats.org/drawingml/2006/main">
              <a:ext uri="{FF2B5EF4-FFF2-40B4-BE49-F238E27FC236}">
                <a16:creationId xmlns:a16="http://schemas.microsoft.com/office/drawing/2014/main" id="{44298B79-8BB2-48DC-A0A4-FE16B3A42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24375"/>
            <a:ext cx="5143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9525">
            <a:solidFill>
              <a:srgbClr val="D0D7DE"/>
            </a:solidFill>
            <a:prstDash val="solid"/>
          </a:ln>
        </p:spPr>
      </p:sp>
      <p:sp>
        <p:nvSpPr>
          <p:cNvPr id="19" name="ih4">
            <a:extLst xmlns:a="http://schemas.openxmlformats.org/drawingml/2006/main">
              <a:ext uri="{FF2B5EF4-FFF2-40B4-BE49-F238E27FC236}">
                <a16:creationId xmlns:a16="http://schemas.microsoft.com/office/drawing/2014/main" id="{9D50C887-8B0B-45B3-B785-C0EA6F5E6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67250"/>
            <a:ext cx="4724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D1117"/>
                </a:solidFill>
              </a:defRPr>
            </a:pPr>
            <a:r>
              <a:rPr sz="1725" b="1">
                <a:solidFill>
                  <a:srgbClr val="0D1117"/>
                </a:solidFill>
              </a:rPr>
              <a:t>版本不漂移</a:t>
            </a:r>
          </a:p>
        </p:txBody>
      </p:sp>
      <p:sp>
        <p:nvSpPr>
          <p:cNvPr id="20" name="ib4">
            <a:extLst xmlns:a="http://schemas.openxmlformats.org/drawingml/2006/main">
              <a:ext uri="{FF2B5EF4-FFF2-40B4-BE49-F238E27FC236}">
                <a16:creationId xmlns:a16="http://schemas.microsoft.com/office/drawing/2014/main" id="{D9D74FA7-765E-46C1-AFAC-53A431327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76825"/>
            <a:ext cx="4724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7606A"/>
                </a:solidFill>
              </a:defRPr>
            </a:pPr>
            <a:r>
              <a:rPr sz="1350" b="0">
                <a:solidFill>
                  <a:srgbClr val="57606A"/>
                </a:solidFill>
              </a:rPr>
              <a:t>IdentityModel、.NET、Mongo image 固定</a:t>
            </a:r>
          </a:p>
        </p:txBody>
      </p:sp>
      <p:sp>
        <p:nvSpPr>
          <p:cNvPr id="21" name="item5">
            <a:extLst xmlns:a="http://schemas.openxmlformats.org/drawingml/2006/main">
              <a:ext uri="{FF2B5EF4-FFF2-40B4-BE49-F238E27FC236}">
                <a16:creationId xmlns:a16="http://schemas.microsoft.com/office/drawing/2014/main" id="{CF838D74-A3F1-49C5-A5EF-045FC09AB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524375"/>
            <a:ext cx="5143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9525">
            <a:solidFill>
              <a:srgbClr val="D0D7DE"/>
            </a:solidFill>
            <a:prstDash val="solid"/>
          </a:ln>
        </p:spPr>
      </p:sp>
      <p:sp>
        <p:nvSpPr>
          <p:cNvPr id="22" name="ih5">
            <a:extLst xmlns:a="http://schemas.openxmlformats.org/drawingml/2006/main">
              <a:ext uri="{FF2B5EF4-FFF2-40B4-BE49-F238E27FC236}">
                <a16:creationId xmlns:a16="http://schemas.microsoft.com/office/drawing/2014/main" id="{F4CABB97-3544-4F9C-9FBE-9E261FA23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667250"/>
            <a:ext cx="4724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D1117"/>
                </a:solidFill>
              </a:defRPr>
            </a:pPr>
            <a:r>
              <a:rPr sz="1725" b="1">
                <a:solidFill>
                  <a:srgbClr val="0D1117"/>
                </a:solidFill>
              </a:rPr>
              <a:t>健康狀態可區分</a:t>
            </a:r>
          </a:p>
        </p:txBody>
      </p:sp>
      <p:sp>
        <p:nvSpPr>
          <p:cNvPr id="23" name="ib5">
            <a:extLst xmlns:a="http://schemas.openxmlformats.org/drawingml/2006/main">
              <a:ext uri="{FF2B5EF4-FFF2-40B4-BE49-F238E27FC236}">
                <a16:creationId xmlns:a16="http://schemas.microsoft.com/office/drawing/2014/main" id="{2990DB3C-4E39-4F97-8866-782C359CA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076825"/>
            <a:ext cx="4724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7606A"/>
                </a:solidFill>
              </a:defRPr>
            </a:pPr>
            <a:r>
              <a:rPr sz="1350" b="0">
                <a:solidFill>
                  <a:srgbClr val="57606A"/>
                </a:solidFill>
              </a:rPr>
              <a:t>live 與 ready 分離</a:t>
            </a:r>
          </a:p>
        </p:txBody>
      </p:sp>
    </p:spTree>
    <p:extLst>
      <p:ext uri="{BB962C8B-B14F-4D97-AF65-F5344CB8AC3E}">
        <p14:creationId xmlns:p14="http://schemas.microsoft.com/office/powerpoint/2010/main" val="800084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ection">
            <a:extLst xmlns:a="http://schemas.openxmlformats.org/drawingml/2006/main">
              <a:ext uri="{FF2B5EF4-FFF2-40B4-BE49-F238E27FC236}">
                <a16:creationId xmlns:a16="http://schemas.microsoft.com/office/drawing/2014/main" id="{D9A4D6AA-E210-4967-958D-8215B6371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883D"/>
                </a:solidFill>
              </a:defRPr>
            </a:pPr>
            <a:r>
              <a:rPr sz="1050" b="1">
                <a:solidFill>
                  <a:srgbClr val="1F883D"/>
                </a:solidFill>
              </a:rPr>
              <a:t>EVIDENCE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44ABDC6-E368-40E3-819B-0A04B8CF4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1125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D1117"/>
                </a:solidFill>
              </a:defRPr>
            </a:pPr>
            <a:r>
              <a:rPr sz="3600" b="1">
                <a:solidFill>
                  <a:srgbClr val="0D1117"/>
                </a:solidFill>
              </a:rPr>
              <a:t>品質閘門已用 CI 證據驗證，不只停留在文件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3B2AEAE1-58F2-42A0-8907-1E1A6C1E1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7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7B2EC716-0DAE-40A7-B4E4-43D5871EF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809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7606A"/>
                </a:solidFill>
              </a:defRPr>
            </a:pPr>
            <a:r>
              <a:rPr sz="900" b="0">
                <a:solidFill>
                  <a:srgbClr val="57606A"/>
                </a:solidFill>
              </a:rPr>
              <a:t>Hsu Family Portal · Open engineering review · 2026-07-24</a:t>
            </a:r>
          </a:p>
        </p:txBody>
      </p:sp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0BBB1EA4-37A2-4938-B1EB-0F6031357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704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606A"/>
                </a:solidFill>
              </a:defRPr>
            </a:pPr>
            <a:r>
              <a:rPr sz="1050" b="1">
                <a:solidFill>
                  <a:srgbClr val="57606A"/>
                </a:solidFill>
              </a:rPr>
              <a:t>07</a:t>
            </a:r>
          </a:p>
        </p:txBody>
      </p:sp>
      <p:sp>
        <p:nvSpPr>
          <p:cNvPr id="6" name="metric-GitHub Actions">
            <a:extLst xmlns:a="http://schemas.openxmlformats.org/drawingml/2006/main">
              <a:ext uri="{FF2B5EF4-FFF2-40B4-BE49-F238E27FC236}">
                <a16:creationId xmlns:a16="http://schemas.microsoft.com/office/drawing/2014/main" id="{1DB243A4-F2E0-4664-A1DD-52EF53234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3333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9525">
            <a:solidFill>
              <a:srgbClr val="D0D7DE"/>
            </a:solidFill>
            <a:prstDash val="solid"/>
          </a:ln>
        </p:spPr>
      </p:sp>
      <p:sp>
        <p:nvSpPr>
          <p:cNvPr id="7" name="mv-GitHub Actions">
            <a:extLst xmlns:a="http://schemas.openxmlformats.org/drawingml/2006/main">
              <a:ext uri="{FF2B5EF4-FFF2-40B4-BE49-F238E27FC236}">
                <a16:creationId xmlns:a16="http://schemas.microsoft.com/office/drawing/2014/main" id="{7F3B6A5F-CA26-4BB2-85F5-BB4EA8CB5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2876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F883D"/>
                </a:solidFill>
              </a:defRPr>
            </a:pPr>
            <a:r>
              <a:rPr sz="3300" b="1">
                <a:solidFill>
                  <a:srgbClr val="1F883D"/>
                </a:solidFill>
              </a:rPr>
              <a:t>全綠</a:t>
            </a:r>
          </a:p>
        </p:txBody>
      </p:sp>
      <p:sp>
        <p:nvSpPr>
          <p:cNvPr id="8" name="ml-GitHub Actions">
            <a:extLst xmlns:a="http://schemas.openxmlformats.org/drawingml/2006/main">
              <a:ext uri="{FF2B5EF4-FFF2-40B4-BE49-F238E27FC236}">
                <a16:creationId xmlns:a16="http://schemas.microsoft.com/office/drawing/2014/main" id="{83B689A0-B7F7-43E5-B724-65A04BB22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47950"/>
            <a:ext cx="2876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7606A"/>
                </a:solidFill>
              </a:defRPr>
            </a:pPr>
            <a:r>
              <a:rPr sz="1350" b="1">
                <a:solidFill>
                  <a:srgbClr val="57606A"/>
                </a:solidFill>
              </a:rPr>
              <a:t>GitHub Actions</a:t>
            </a:r>
          </a:p>
        </p:txBody>
      </p:sp>
      <p:sp>
        <p:nvSpPr>
          <p:cNvPr id="9" name="metric-Backend">
            <a:extLst xmlns:a="http://schemas.openxmlformats.org/drawingml/2006/main">
              <a:ext uri="{FF2B5EF4-FFF2-40B4-BE49-F238E27FC236}">
                <a16:creationId xmlns:a16="http://schemas.microsoft.com/office/drawing/2014/main" id="{BE5443F1-1354-462D-B0E5-354E4C856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809750"/>
            <a:ext cx="3333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9525">
            <a:solidFill>
              <a:srgbClr val="D0D7DE"/>
            </a:solidFill>
            <a:prstDash val="solid"/>
          </a:ln>
        </p:spPr>
      </p:sp>
      <p:sp>
        <p:nvSpPr>
          <p:cNvPr id="10" name="mv-Backend">
            <a:extLst xmlns:a="http://schemas.openxmlformats.org/drawingml/2006/main">
              <a:ext uri="{FF2B5EF4-FFF2-40B4-BE49-F238E27FC236}">
                <a16:creationId xmlns:a16="http://schemas.microsoft.com/office/drawing/2014/main" id="{37E62B8F-774E-4716-90F3-3A9CF5D6B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981200"/>
            <a:ext cx="2876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969DA"/>
                </a:solidFill>
              </a:defRPr>
            </a:pPr>
            <a:r>
              <a:rPr sz="3300" b="1">
                <a:solidFill>
                  <a:srgbClr val="0969DA"/>
                </a:solidFill>
              </a:rPr>
              <a:t>Build + Test</a:t>
            </a:r>
          </a:p>
        </p:txBody>
      </p:sp>
      <p:sp>
        <p:nvSpPr>
          <p:cNvPr id="11" name="ml-Backend">
            <a:extLst xmlns:a="http://schemas.openxmlformats.org/drawingml/2006/main">
              <a:ext uri="{FF2B5EF4-FFF2-40B4-BE49-F238E27FC236}">
                <a16:creationId xmlns:a16="http://schemas.microsoft.com/office/drawing/2014/main" id="{58DDD3A0-E3B0-4ECC-A668-338CACC23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647950"/>
            <a:ext cx="2876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7606A"/>
                </a:solidFill>
              </a:defRPr>
            </a:pPr>
            <a:r>
              <a:rPr sz="1350" b="1">
                <a:solidFill>
                  <a:srgbClr val="57606A"/>
                </a:solidFill>
              </a:rPr>
              <a:t>Backend</a:t>
            </a:r>
          </a:p>
        </p:txBody>
      </p:sp>
      <p:sp>
        <p:nvSpPr>
          <p:cNvPr id="12" name="metric-Frontend">
            <a:extLst xmlns:a="http://schemas.openxmlformats.org/drawingml/2006/main">
              <a:ext uri="{FF2B5EF4-FFF2-40B4-BE49-F238E27FC236}">
                <a16:creationId xmlns:a16="http://schemas.microsoft.com/office/drawing/2014/main" id="{A464AA39-987E-4C8B-8DB8-1D5F27497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809750"/>
            <a:ext cx="3333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9525">
            <a:solidFill>
              <a:srgbClr val="D0D7DE"/>
            </a:solidFill>
            <a:prstDash val="solid"/>
          </a:ln>
        </p:spPr>
      </p:sp>
      <p:sp>
        <p:nvSpPr>
          <p:cNvPr id="13" name="mv-Frontend">
            <a:extLst xmlns:a="http://schemas.openxmlformats.org/drawingml/2006/main">
              <a:ext uri="{FF2B5EF4-FFF2-40B4-BE49-F238E27FC236}">
                <a16:creationId xmlns:a16="http://schemas.microsoft.com/office/drawing/2014/main" id="{C0EDD9D4-2307-4303-BFBF-B1BFC0764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981200"/>
            <a:ext cx="2876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969DA"/>
                </a:solidFill>
              </a:defRPr>
            </a:pPr>
            <a:r>
              <a:rPr sz="3300" b="1">
                <a:solidFill>
                  <a:srgbClr val="0969DA"/>
                </a:solidFill>
              </a:rPr>
              <a:t>Lint + Build</a:t>
            </a:r>
          </a:p>
        </p:txBody>
      </p:sp>
      <p:sp>
        <p:nvSpPr>
          <p:cNvPr id="14" name="ml-Frontend">
            <a:extLst xmlns:a="http://schemas.openxmlformats.org/drawingml/2006/main">
              <a:ext uri="{FF2B5EF4-FFF2-40B4-BE49-F238E27FC236}">
                <a16:creationId xmlns:a16="http://schemas.microsoft.com/office/drawing/2014/main" id="{57AA4B85-8A9C-4831-B451-4DCA80F01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647950"/>
            <a:ext cx="2876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7606A"/>
                </a:solidFill>
              </a:defRPr>
            </a:pPr>
            <a:r>
              <a:rPr sz="1350" b="1">
                <a:solidFill>
                  <a:srgbClr val="57606A"/>
                </a:solidFill>
              </a:rPr>
              <a:t>Frontend</a:t>
            </a:r>
          </a:p>
        </p:txBody>
      </p:sp>
      <p:sp>
        <p:nvSpPr>
          <p:cNvPr id="15" name="bullet-385">
            <a:extLst xmlns:a="http://schemas.openxmlformats.org/drawingml/2006/main">
              <a:ext uri="{FF2B5EF4-FFF2-40B4-BE49-F238E27FC236}">
                <a16:creationId xmlns:a16="http://schemas.microsoft.com/office/drawing/2014/main" id="{23B32E79-5BD9-42FC-80A7-0ABA36433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67125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D1117"/>
                </a:solidFill>
              </a:defRPr>
            </a:pPr>
            <a:r>
              <a:rPr sz="1650" b="0">
                <a:solidFill>
                  <a:srgbClr val="0D1117"/>
                </a:solidFill>
              </a:rPr>
              <a:t>•  xUnit：Refresh hash、token family、JWT user ID、Argon2id</a:t>
            </a:r>
          </a:p>
        </p:txBody>
      </p:sp>
      <p:sp>
        <p:nvSpPr>
          <p:cNvPr id="16" name="bullet-440">
            <a:extLst xmlns:a="http://schemas.openxmlformats.org/drawingml/2006/main">
              <a:ext uri="{FF2B5EF4-FFF2-40B4-BE49-F238E27FC236}">
                <a16:creationId xmlns:a16="http://schemas.microsoft.com/office/drawing/2014/main" id="{A9D54C8B-CA82-46C7-8B04-27367D4EE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D1117"/>
                </a:solidFill>
              </a:defRPr>
            </a:pPr>
            <a:r>
              <a:rPr sz="1650" b="0">
                <a:solidFill>
                  <a:srgbClr val="0D1117"/>
                </a:solidFill>
              </a:rPr>
              <a:t>•  API integration：匿名 health、未登入拒絕、無 CSRF 寫入拒絕</a:t>
            </a:r>
          </a:p>
        </p:txBody>
      </p:sp>
      <p:sp>
        <p:nvSpPr>
          <p:cNvPr id="17" name="bullet-495">
            <a:extLst xmlns:a="http://schemas.openxmlformats.org/drawingml/2006/main">
              <a:ext uri="{FF2B5EF4-FFF2-40B4-BE49-F238E27FC236}">
                <a16:creationId xmlns:a16="http://schemas.microsoft.com/office/drawing/2014/main" id="{FC415B25-0353-4458-A56A-34DD26809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14875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D1117"/>
                </a:solidFill>
              </a:defRPr>
            </a:pPr>
            <a:r>
              <a:rPr sz="1650" b="0">
                <a:solidFill>
                  <a:srgbClr val="0D1117"/>
                </a:solidFill>
              </a:rPr>
              <a:t>•  Production build：Next.js TypeScript 與靜態頁面產出成功</a:t>
            </a:r>
          </a:p>
        </p:txBody>
      </p:sp>
      <p:sp>
        <p:nvSpPr>
          <p:cNvPr id="18" name="run">
            <a:extLst xmlns:a="http://schemas.openxmlformats.org/drawingml/2006/main">
              <a:ext uri="{FF2B5EF4-FFF2-40B4-BE49-F238E27FC236}">
                <a16:creationId xmlns:a16="http://schemas.microsoft.com/office/drawing/2014/main" id="{3B479EE8-4C93-4148-A1C4-7FF2D33E9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19750"/>
            <a:ext cx="952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7606A"/>
                </a:solidFill>
              </a:defRPr>
            </a:pPr>
            <a:r>
              <a:rPr sz="1350" b="1">
                <a:solidFill>
                  <a:srgbClr val="57606A"/>
                </a:solidFill>
              </a:rPr>
              <a:t>驗證紀錄：GitHub Actions run 30022585388</a:t>
            </a:r>
          </a:p>
        </p:txBody>
      </p:sp>
    </p:spTree>
    <p:extLst>
      <p:ext uri="{BB962C8B-B14F-4D97-AF65-F5344CB8AC3E}">
        <p14:creationId xmlns:p14="http://schemas.microsoft.com/office/powerpoint/2010/main" val="74729688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">
            <a:extLst xmlns:a="http://schemas.openxmlformats.org/drawingml/2006/main">
              <a:ext uri="{FF2B5EF4-FFF2-40B4-BE49-F238E27FC236}">
                <a16:creationId xmlns:a16="http://schemas.microsoft.com/office/drawing/2014/main" id="{C1E5474C-C5B5-403E-B4B8-0104F9396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883D"/>
                </a:solidFill>
              </a:defRPr>
            </a:pPr>
            <a:r>
              <a:rPr sz="1050" b="1">
                <a:solidFill>
                  <a:srgbClr val="1F883D"/>
                </a:solidFill>
              </a:rPr>
              <a:t>RESIDUAL RISK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673D84E-F19E-43B3-9792-C4F982A7C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1125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D1117"/>
                </a:solidFill>
              </a:defRPr>
            </a:pPr>
            <a:r>
              <a:rPr sz="3600" b="1">
                <a:solidFill>
                  <a:srgbClr val="0D1117"/>
                </a:solidFill>
              </a:rPr>
              <a:t>剩餘風險已轉為需要環境與制度共同處理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87EA6445-3A01-47A3-8C26-2D460433B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7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7F8ACED3-43B3-494F-9133-CD82AE02F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809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7606A"/>
                </a:solidFill>
              </a:defRPr>
            </a:pPr>
            <a:r>
              <a:rPr sz="900" b="0">
                <a:solidFill>
                  <a:srgbClr val="57606A"/>
                </a:solidFill>
              </a:rPr>
              <a:t>Hsu Family Portal · Open engineering review · 2026-07-24</a:t>
            </a:r>
          </a:p>
        </p:txBody>
      </p:sp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FDDB809B-C53A-4257-86EA-E6B4829AA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704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606A"/>
                </a:solidFill>
              </a:defRPr>
            </a:pPr>
            <a:r>
              <a:rPr sz="1050" b="1">
                <a:solidFill>
                  <a:srgbClr val="57606A"/>
                </a:solidFill>
              </a:rPr>
              <a:t>08</a:t>
            </a:r>
          </a:p>
        </p:txBody>
      </p:sp>
      <p:sp>
        <p:nvSpPr>
          <p:cNvPr id="6" name="rk0">
            <a:extLst xmlns:a="http://schemas.openxmlformats.org/drawingml/2006/main">
              <a:ext uri="{FF2B5EF4-FFF2-40B4-BE49-F238E27FC236}">
                <a16:creationId xmlns:a16="http://schemas.microsoft.com/office/drawing/2014/main" id="{740EE48A-CA36-460D-9E7A-2E2CF1522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CF222E"/>
                </a:solidFill>
              </a:defRPr>
            </a:pPr>
            <a:r>
              <a:rPr sz="1575" b="1">
                <a:solidFill>
                  <a:srgbClr val="CF222E"/>
                </a:solidFill>
              </a:rPr>
              <a:t>TLS／代理</a:t>
            </a:r>
          </a:p>
        </p:txBody>
      </p:sp>
      <p:sp>
        <p:nvSpPr>
          <p:cNvPr id="7" name="rv0">
            <a:extLst xmlns:a="http://schemas.openxmlformats.org/drawingml/2006/main">
              <a:ext uri="{FF2B5EF4-FFF2-40B4-BE49-F238E27FC236}">
                <a16:creationId xmlns:a16="http://schemas.microsoft.com/office/drawing/2014/main" id="{82EE53EA-950A-4054-A418-644F6BF2B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762125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D1117"/>
                </a:solidFill>
              </a:defRPr>
            </a:pPr>
            <a:r>
              <a:rPr sz="1575" b="0">
                <a:solidFill>
                  <a:srgbClr val="0D1117"/>
                </a:solidFill>
              </a:rPr>
              <a:t>正式 HTTPS、HSTS、KnownProxies</a:t>
            </a:r>
          </a:p>
        </p:txBody>
      </p:sp>
      <p:sp>
        <p:nvSpPr>
          <p:cNvPr id="8" name="rl0">
            <a:extLst xmlns:a="http://schemas.openxmlformats.org/drawingml/2006/main">
              <a:ext uri="{FF2B5EF4-FFF2-40B4-BE49-F238E27FC236}">
                <a16:creationId xmlns:a16="http://schemas.microsoft.com/office/drawing/2014/main" id="{3B8F69FE-465E-43E6-938B-4107FADC5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57425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7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rk1">
            <a:extLst xmlns:a="http://schemas.openxmlformats.org/drawingml/2006/main">
              <a:ext uri="{FF2B5EF4-FFF2-40B4-BE49-F238E27FC236}">
                <a16:creationId xmlns:a16="http://schemas.microsoft.com/office/drawing/2014/main" id="{099D7CD2-09E0-4EB7-915E-B40446075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4792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CF222E"/>
                </a:solidFill>
              </a:defRPr>
            </a:pPr>
            <a:r>
              <a:rPr sz="1575" b="1">
                <a:solidFill>
                  <a:srgbClr val="CF222E"/>
                </a:solidFill>
              </a:rPr>
              <a:t>秘密生命週期</a:t>
            </a:r>
          </a:p>
        </p:txBody>
      </p:sp>
      <p:sp>
        <p:nvSpPr>
          <p:cNvPr id="10" name="rv1">
            <a:extLst xmlns:a="http://schemas.openxmlformats.org/drawingml/2006/main">
              <a:ext uri="{FF2B5EF4-FFF2-40B4-BE49-F238E27FC236}">
                <a16:creationId xmlns:a16="http://schemas.microsoft.com/office/drawing/2014/main" id="{9BAE0952-2D79-4D3F-BA55-56CD92003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447925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D1117"/>
                </a:solidFill>
              </a:defRPr>
            </a:pPr>
            <a:r>
              <a:rPr sz="1575" b="0">
                <a:solidFill>
                  <a:srgbClr val="0D1117"/>
                </a:solidFill>
              </a:rPr>
              <a:t>Secret Manager、輪替、緊急撤銷</a:t>
            </a:r>
          </a:p>
        </p:txBody>
      </p:sp>
      <p:sp>
        <p:nvSpPr>
          <p:cNvPr id="11" name="rl1">
            <a:extLst xmlns:a="http://schemas.openxmlformats.org/drawingml/2006/main">
              <a:ext uri="{FF2B5EF4-FFF2-40B4-BE49-F238E27FC236}">
                <a16:creationId xmlns:a16="http://schemas.microsoft.com/office/drawing/2014/main" id="{B43E9A52-4EE3-4490-B723-F9B6C6262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43225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7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rk2">
            <a:extLst xmlns:a="http://schemas.openxmlformats.org/drawingml/2006/main">
              <a:ext uri="{FF2B5EF4-FFF2-40B4-BE49-F238E27FC236}">
                <a16:creationId xmlns:a16="http://schemas.microsoft.com/office/drawing/2014/main" id="{003E0AFB-DB9B-4BE9-B93B-B8FC78B78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3372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BF8700"/>
                </a:solidFill>
              </a:defRPr>
            </a:pPr>
            <a:r>
              <a:rPr sz="1575" b="1">
                <a:solidFill>
                  <a:srgbClr val="BF8700"/>
                </a:solidFill>
              </a:rPr>
              <a:t>營運韌性</a:t>
            </a:r>
          </a:p>
        </p:txBody>
      </p:sp>
      <p:sp>
        <p:nvSpPr>
          <p:cNvPr id="13" name="rv2">
            <a:extLst xmlns:a="http://schemas.openxmlformats.org/drawingml/2006/main">
              <a:ext uri="{FF2B5EF4-FFF2-40B4-BE49-F238E27FC236}">
                <a16:creationId xmlns:a16="http://schemas.microsoft.com/office/drawing/2014/main" id="{6582A6B7-99BD-4DCE-A118-D3C3E052F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33725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D1117"/>
                </a:solidFill>
              </a:defRPr>
            </a:pPr>
            <a:r>
              <a:rPr sz="1575" b="0">
                <a:solidFill>
                  <a:srgbClr val="0D1117"/>
                </a:solidFill>
              </a:rPr>
              <a:t>備份還原、RPO／RTO、災難演練</a:t>
            </a:r>
          </a:p>
        </p:txBody>
      </p:sp>
      <p:sp>
        <p:nvSpPr>
          <p:cNvPr id="14" name="rl2">
            <a:extLst xmlns:a="http://schemas.openxmlformats.org/drawingml/2006/main">
              <a:ext uri="{FF2B5EF4-FFF2-40B4-BE49-F238E27FC236}">
                <a16:creationId xmlns:a16="http://schemas.microsoft.com/office/drawing/2014/main" id="{5D9787E2-3C1D-4A72-AC09-B16295BB6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29025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7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rk3">
            <a:extLst xmlns:a="http://schemas.openxmlformats.org/drawingml/2006/main">
              <a:ext uri="{FF2B5EF4-FFF2-40B4-BE49-F238E27FC236}">
                <a16:creationId xmlns:a16="http://schemas.microsoft.com/office/drawing/2014/main" id="{B7D228CB-1397-4ACE-B3FD-387117DF7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952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BF8700"/>
                </a:solidFill>
              </a:defRPr>
            </a:pPr>
            <a:r>
              <a:rPr sz="1575" b="1">
                <a:solidFill>
                  <a:srgbClr val="BF8700"/>
                </a:solidFill>
              </a:rPr>
              <a:t>可觀測性</a:t>
            </a:r>
          </a:p>
        </p:txBody>
      </p:sp>
      <p:sp>
        <p:nvSpPr>
          <p:cNvPr id="16" name="rv3">
            <a:extLst xmlns:a="http://schemas.openxmlformats.org/drawingml/2006/main">
              <a:ext uri="{FF2B5EF4-FFF2-40B4-BE49-F238E27FC236}">
                <a16:creationId xmlns:a16="http://schemas.microsoft.com/office/drawing/2014/main" id="{03EB0E92-4875-4FDF-8D8C-6E7BA5B74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819525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D1117"/>
                </a:solidFill>
              </a:defRPr>
            </a:pPr>
            <a:r>
              <a:rPr sz="1575" b="0">
                <a:solidFill>
                  <a:srgbClr val="0D1117"/>
                </a:solidFill>
              </a:rPr>
              <a:t>Metrics、traces、集中 log、告警</a:t>
            </a:r>
          </a:p>
        </p:txBody>
      </p:sp>
      <p:sp>
        <p:nvSpPr>
          <p:cNvPr id="17" name="rl3">
            <a:extLst xmlns:a="http://schemas.openxmlformats.org/drawingml/2006/main">
              <a:ext uri="{FF2B5EF4-FFF2-40B4-BE49-F238E27FC236}">
                <a16:creationId xmlns:a16="http://schemas.microsoft.com/office/drawing/2014/main" id="{F962FDE9-493D-421A-9E56-CA2F64271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14825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7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rk4">
            <a:extLst xmlns:a="http://schemas.openxmlformats.org/drawingml/2006/main">
              <a:ext uri="{FF2B5EF4-FFF2-40B4-BE49-F238E27FC236}">
                <a16:creationId xmlns:a16="http://schemas.microsoft.com/office/drawing/2014/main" id="{0B094960-3AF0-41EE-905B-9BC455A1E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0532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BF8700"/>
                </a:solidFill>
              </a:defRPr>
            </a:pPr>
            <a:r>
              <a:rPr sz="1575" b="1">
                <a:solidFill>
                  <a:srgbClr val="BF8700"/>
                </a:solidFill>
              </a:rPr>
              <a:t>供應鏈治理</a:t>
            </a:r>
          </a:p>
        </p:txBody>
      </p:sp>
      <p:sp>
        <p:nvSpPr>
          <p:cNvPr id="19" name="rv4">
            <a:extLst xmlns:a="http://schemas.openxmlformats.org/drawingml/2006/main">
              <a:ext uri="{FF2B5EF4-FFF2-40B4-BE49-F238E27FC236}">
                <a16:creationId xmlns:a16="http://schemas.microsoft.com/office/drawing/2014/main" id="{CD9BE376-F75C-4D3A-816D-68E8E920B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505325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D1117"/>
                </a:solidFill>
              </a:defRPr>
            </a:pPr>
            <a:r>
              <a:rPr sz="1575" b="0">
                <a:solidFill>
                  <a:srgbClr val="0D1117"/>
                </a:solidFill>
              </a:rPr>
              <a:t>CodeQL、SBOM、image scan、更新機器人</a:t>
            </a:r>
          </a:p>
        </p:txBody>
      </p:sp>
      <p:sp>
        <p:nvSpPr>
          <p:cNvPr id="20" name="rl4">
            <a:extLst xmlns:a="http://schemas.openxmlformats.org/drawingml/2006/main">
              <a:ext uri="{FF2B5EF4-FFF2-40B4-BE49-F238E27FC236}">
                <a16:creationId xmlns:a16="http://schemas.microsoft.com/office/drawing/2014/main" id="{FAFFCAA6-A420-4501-AA4F-044696028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00625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7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rk5">
            <a:extLst xmlns:a="http://schemas.openxmlformats.org/drawingml/2006/main">
              <a:ext uri="{FF2B5EF4-FFF2-40B4-BE49-F238E27FC236}">
                <a16:creationId xmlns:a16="http://schemas.microsoft.com/office/drawing/2014/main" id="{2971A5CA-CC02-4081-AAB0-E618D7252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9112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BF8700"/>
                </a:solidFill>
              </a:defRPr>
            </a:pPr>
            <a:r>
              <a:rPr sz="1575" b="1">
                <a:solidFill>
                  <a:srgbClr val="BF8700"/>
                </a:solidFill>
              </a:rPr>
              <a:t>完整 E2E</a:t>
            </a:r>
          </a:p>
        </p:txBody>
      </p:sp>
      <p:sp>
        <p:nvSpPr>
          <p:cNvPr id="22" name="rv5">
            <a:extLst xmlns:a="http://schemas.openxmlformats.org/drawingml/2006/main">
              <a:ext uri="{FF2B5EF4-FFF2-40B4-BE49-F238E27FC236}">
                <a16:creationId xmlns:a16="http://schemas.microsoft.com/office/drawing/2014/main" id="{80890E74-CD2D-4D91-9432-0EF7719A1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191125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D1117"/>
                </a:solidFill>
              </a:defRPr>
            </a:pPr>
            <a:r>
              <a:rPr sz="1575" b="0">
                <a:solidFill>
                  <a:srgbClr val="0D1117"/>
                </a:solidFill>
              </a:rPr>
              <a:t>真實 Mongo/API/Web login-refresh-logout</a:t>
            </a:r>
          </a:p>
        </p:txBody>
      </p:sp>
      <p:sp>
        <p:nvSpPr>
          <p:cNvPr id="23" name="rl5">
            <a:extLst xmlns:a="http://schemas.openxmlformats.org/drawingml/2006/main">
              <a:ext uri="{FF2B5EF4-FFF2-40B4-BE49-F238E27FC236}">
                <a16:creationId xmlns:a16="http://schemas.microsoft.com/office/drawing/2014/main" id="{F5952BC2-8E7C-4974-8D1F-CAE3C40C9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86425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7DE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33494488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section">
            <a:extLst xmlns:a="http://schemas.openxmlformats.org/drawingml/2006/main">
              <a:ext uri="{FF2B5EF4-FFF2-40B4-BE49-F238E27FC236}">
                <a16:creationId xmlns:a16="http://schemas.microsoft.com/office/drawing/2014/main" id="{ADD42E46-2AFA-4367-8DF5-BC04AAA0D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883D"/>
                </a:solidFill>
              </a:defRPr>
            </a:pPr>
            <a:r>
              <a:rPr sz="1050" b="1">
                <a:solidFill>
                  <a:srgbClr val="1F883D"/>
                </a:solidFill>
              </a:rPr>
              <a:t>ROADMAP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3C9FD44-3C8A-4D7A-A97A-616F2E60D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1125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D1117"/>
                </a:solidFill>
              </a:defRPr>
            </a:pPr>
            <a:r>
              <a:rPr sz="3600" b="1">
                <a:solidFill>
                  <a:srgbClr val="0D1117"/>
                </a:solidFill>
              </a:rPr>
              <a:t>以三階段投資完成真正的企業上線能力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E47A6C9B-6A5A-4D84-BC0F-B334FF767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7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72D561A5-AEB2-4426-8C8C-9C84A01D8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809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7606A"/>
                </a:solidFill>
              </a:defRPr>
            </a:pPr>
            <a:r>
              <a:rPr sz="900" b="0">
                <a:solidFill>
                  <a:srgbClr val="57606A"/>
                </a:solidFill>
              </a:rPr>
              <a:t>Hsu Family Portal · Open engineering review · 2026-07-24</a:t>
            </a:r>
          </a:p>
        </p:txBody>
      </p:sp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5DD05C47-12C8-40E1-806A-EF4A40A22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704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606A"/>
                </a:solidFill>
              </a:defRPr>
            </a:pPr>
            <a:r>
              <a:rPr sz="1050" b="1">
                <a:solidFill>
                  <a:srgbClr val="57606A"/>
                </a:solidFill>
              </a:rPr>
              <a:t>09</a:t>
            </a:r>
          </a:p>
        </p:txBody>
      </p:sp>
      <p:sp>
        <p:nvSpPr>
          <p:cNvPr id="6" name="phase0">
            <a:extLst xmlns:a="http://schemas.openxmlformats.org/drawingml/2006/main">
              <a:ext uri="{FF2B5EF4-FFF2-40B4-BE49-F238E27FC236}">
                <a16:creationId xmlns:a16="http://schemas.microsoft.com/office/drawing/2014/main" id="{CCC50119-8A26-4AEB-B836-E0169CA49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333375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9525">
            <a:solidFill>
              <a:srgbClr val="D0D7DE"/>
            </a:solidFill>
            <a:prstDash val="solid"/>
          </a:ln>
        </p:spPr>
      </p:sp>
      <p:sp>
        <p:nvSpPr>
          <p:cNvPr id="7" name="bar0">
            <a:extLst xmlns:a="http://schemas.openxmlformats.org/drawingml/2006/main">
              <a:ext uri="{FF2B5EF4-FFF2-40B4-BE49-F238E27FC236}">
                <a16:creationId xmlns:a16="http://schemas.microsoft.com/office/drawing/2014/main" id="{A4E33B0C-CBD6-4044-8303-80F1C4CF3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33337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22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h0">
            <a:extLst xmlns:a="http://schemas.openxmlformats.org/drawingml/2006/main">
              <a:ext uri="{FF2B5EF4-FFF2-40B4-BE49-F238E27FC236}">
                <a16:creationId xmlns:a16="http://schemas.microsoft.com/office/drawing/2014/main" id="{79B35376-A270-4316-9637-8989AF267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43125"/>
            <a:ext cx="2876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CF222E"/>
                </a:solidFill>
              </a:defRPr>
            </a:pPr>
            <a:r>
              <a:rPr sz="2025" b="1">
                <a:solidFill>
                  <a:srgbClr val="CF222E"/>
                </a:solidFill>
              </a:rPr>
              <a:t>P0｜上線閘門</a:t>
            </a:r>
          </a:p>
        </p:txBody>
      </p:sp>
      <p:sp>
        <p:nvSpPr>
          <p:cNvPr id="9" name="bullet-300">
            <a:extLst xmlns:a="http://schemas.openxmlformats.org/drawingml/2006/main">
              <a:ext uri="{FF2B5EF4-FFF2-40B4-BE49-F238E27FC236}">
                <a16:creationId xmlns:a16="http://schemas.microsoft.com/office/drawing/2014/main" id="{29B679ED-F8E8-44EA-86F3-164C9AF0F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575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D1117"/>
                </a:solidFill>
              </a:defRPr>
            </a:pPr>
            <a:r>
              <a:rPr sz="1650" b="0">
                <a:solidFill>
                  <a:srgbClr val="0D1117"/>
                </a:solidFill>
              </a:rPr>
              <a:t>•  TLS 與正式網域</a:t>
            </a:r>
          </a:p>
        </p:txBody>
      </p:sp>
      <p:sp>
        <p:nvSpPr>
          <p:cNvPr id="10" name="bullet-358">
            <a:extLst xmlns:a="http://schemas.openxmlformats.org/drawingml/2006/main">
              <a:ext uri="{FF2B5EF4-FFF2-40B4-BE49-F238E27FC236}">
                <a16:creationId xmlns:a16="http://schemas.microsoft.com/office/drawing/2014/main" id="{B9C0BB30-29EE-48F4-AEE3-21240D732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099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D1117"/>
                </a:solidFill>
              </a:defRPr>
            </a:pPr>
            <a:r>
              <a:rPr sz="1650" b="0">
                <a:solidFill>
                  <a:srgbClr val="0D1117"/>
                </a:solidFill>
              </a:rPr>
              <a:t>•  Secret Manager</a:t>
            </a:r>
          </a:p>
        </p:txBody>
      </p:sp>
      <p:sp>
        <p:nvSpPr>
          <p:cNvPr id="11" name="bullet-416">
            <a:extLst xmlns:a="http://schemas.openxmlformats.org/drawingml/2006/main">
              <a:ext uri="{FF2B5EF4-FFF2-40B4-BE49-F238E27FC236}">
                <a16:creationId xmlns:a16="http://schemas.microsoft.com/office/drawing/2014/main" id="{33907644-C1D1-4D48-A9F2-A8B9129E7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624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D1117"/>
                </a:solidFill>
              </a:defRPr>
            </a:pPr>
            <a:r>
              <a:rPr sz="1650" b="0">
                <a:solidFill>
                  <a:srgbClr val="0D1117"/>
                </a:solidFill>
              </a:rPr>
              <a:t>•  監控告警</a:t>
            </a:r>
          </a:p>
        </p:txBody>
      </p:sp>
      <p:sp>
        <p:nvSpPr>
          <p:cNvPr id="12" name="bullet-474">
            <a:extLst xmlns:a="http://schemas.openxmlformats.org/drawingml/2006/main">
              <a:ext uri="{FF2B5EF4-FFF2-40B4-BE49-F238E27FC236}">
                <a16:creationId xmlns:a16="http://schemas.microsoft.com/office/drawing/2014/main" id="{A08621D7-8661-4058-A636-FD261D748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148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D1117"/>
                </a:solidFill>
              </a:defRPr>
            </a:pPr>
            <a:r>
              <a:rPr sz="1650" b="0">
                <a:solidFill>
                  <a:srgbClr val="0D1117"/>
                </a:solidFill>
              </a:rPr>
              <a:t>•  備份還原演練</a:t>
            </a:r>
          </a:p>
        </p:txBody>
      </p:sp>
      <p:sp>
        <p:nvSpPr>
          <p:cNvPr id="13" name="phase1">
            <a:extLst xmlns:a="http://schemas.openxmlformats.org/drawingml/2006/main">
              <a:ext uri="{FF2B5EF4-FFF2-40B4-BE49-F238E27FC236}">
                <a16:creationId xmlns:a16="http://schemas.microsoft.com/office/drawing/2014/main" id="{FC62A39E-0FAE-4967-BAA9-F91395849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809750"/>
            <a:ext cx="333375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9525">
            <a:solidFill>
              <a:srgbClr val="D0D7DE"/>
            </a:solidFill>
            <a:prstDash val="solid"/>
          </a:ln>
        </p:spPr>
      </p:sp>
      <p:sp>
        <p:nvSpPr>
          <p:cNvPr id="14" name="bar1">
            <a:extLst xmlns:a="http://schemas.openxmlformats.org/drawingml/2006/main">
              <a:ext uri="{FF2B5EF4-FFF2-40B4-BE49-F238E27FC236}">
                <a16:creationId xmlns:a16="http://schemas.microsoft.com/office/drawing/2014/main" id="{CF66149F-C2E0-49C2-BE90-3908BF9B8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809750"/>
            <a:ext cx="33337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87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ph1">
            <a:extLst xmlns:a="http://schemas.openxmlformats.org/drawingml/2006/main">
              <a:ext uri="{FF2B5EF4-FFF2-40B4-BE49-F238E27FC236}">
                <a16:creationId xmlns:a16="http://schemas.microsoft.com/office/drawing/2014/main" id="{CDED1D73-01EE-4382-9B60-259A2C7FD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43125"/>
            <a:ext cx="2876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BF8700"/>
                </a:solidFill>
              </a:defRPr>
            </a:pPr>
            <a:r>
              <a:rPr sz="2025" b="1">
                <a:solidFill>
                  <a:srgbClr val="BF8700"/>
                </a:solidFill>
              </a:rPr>
              <a:t>P1｜一個迭代</a:t>
            </a:r>
          </a:p>
        </p:txBody>
      </p:sp>
      <p:sp>
        <p:nvSpPr>
          <p:cNvPr id="16" name="bullet-300">
            <a:extLst xmlns:a="http://schemas.openxmlformats.org/drawingml/2006/main">
              <a:ext uri="{FF2B5EF4-FFF2-40B4-BE49-F238E27FC236}">
                <a16:creationId xmlns:a16="http://schemas.microsoft.com/office/drawing/2014/main" id="{B699536D-E8A0-473E-A067-2492BCD28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575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D1117"/>
                </a:solidFill>
              </a:defRPr>
            </a:pPr>
            <a:r>
              <a:rPr sz="1650" b="0">
                <a:solidFill>
                  <a:srgbClr val="0D1117"/>
                </a:solidFill>
              </a:rPr>
              <a:t>•  Playwright E2E</a:t>
            </a:r>
          </a:p>
        </p:txBody>
      </p:sp>
      <p:sp>
        <p:nvSpPr>
          <p:cNvPr id="17" name="bullet-358">
            <a:extLst xmlns:a="http://schemas.openxmlformats.org/drawingml/2006/main">
              <a:ext uri="{FF2B5EF4-FFF2-40B4-BE49-F238E27FC236}">
                <a16:creationId xmlns:a16="http://schemas.microsoft.com/office/drawing/2014/main" id="{233FB5C6-8994-476D-B9D7-BC917B1AA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4099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D1117"/>
                </a:solidFill>
              </a:defRPr>
            </a:pPr>
            <a:r>
              <a:rPr sz="1650" b="0">
                <a:solidFill>
                  <a:srgbClr val="0D1117"/>
                </a:solidFill>
              </a:rPr>
              <a:t>•  Auth Application Service</a:t>
            </a:r>
          </a:p>
        </p:txBody>
      </p:sp>
      <p:sp>
        <p:nvSpPr>
          <p:cNvPr id="18" name="bullet-416">
            <a:extLst xmlns:a="http://schemas.openxmlformats.org/drawingml/2006/main">
              <a:ext uri="{FF2B5EF4-FFF2-40B4-BE49-F238E27FC236}">
                <a16:creationId xmlns:a16="http://schemas.microsoft.com/office/drawing/2014/main" id="{A47A1D66-2E80-4562-A9F6-CC3A1C36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9624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D1117"/>
                </a:solidFill>
              </a:defRPr>
            </a:pPr>
            <a:r>
              <a:rPr sz="1650" b="0">
                <a:solidFill>
                  <a:srgbClr val="0D1117"/>
                </a:solidFill>
              </a:rPr>
              <a:t>•  CodeQL／SBOM</a:t>
            </a:r>
          </a:p>
        </p:txBody>
      </p:sp>
      <p:sp>
        <p:nvSpPr>
          <p:cNvPr id="19" name="bullet-474">
            <a:extLst xmlns:a="http://schemas.openxmlformats.org/drawingml/2006/main">
              <a:ext uri="{FF2B5EF4-FFF2-40B4-BE49-F238E27FC236}">
                <a16:creationId xmlns:a16="http://schemas.microsoft.com/office/drawing/2014/main" id="{0133D545-9BB9-4B08-A35A-17F861E9A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5148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D1117"/>
                </a:solidFill>
              </a:defRPr>
            </a:pPr>
            <a:r>
              <a:rPr sz="1650" b="0">
                <a:solidFill>
                  <a:srgbClr val="0D1117"/>
                </a:solidFill>
              </a:rPr>
              <a:t>•  Branch protection</a:t>
            </a:r>
          </a:p>
        </p:txBody>
      </p:sp>
      <p:sp>
        <p:nvSpPr>
          <p:cNvPr id="20" name="phase2">
            <a:extLst xmlns:a="http://schemas.openxmlformats.org/drawingml/2006/main">
              <a:ext uri="{FF2B5EF4-FFF2-40B4-BE49-F238E27FC236}">
                <a16:creationId xmlns:a16="http://schemas.microsoft.com/office/drawing/2014/main" id="{108BCF68-28C3-4919-B58E-CBAF6C3BA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809750"/>
            <a:ext cx="333375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9525">
            <a:solidFill>
              <a:srgbClr val="D0D7DE"/>
            </a:solidFill>
            <a:prstDash val="solid"/>
          </a:ln>
        </p:spPr>
      </p:sp>
      <p:sp>
        <p:nvSpPr>
          <p:cNvPr id="21" name="bar2">
            <a:extLst xmlns:a="http://schemas.openxmlformats.org/drawingml/2006/main">
              <a:ext uri="{FF2B5EF4-FFF2-40B4-BE49-F238E27FC236}">
                <a16:creationId xmlns:a16="http://schemas.microsoft.com/office/drawing/2014/main" id="{E6F673C6-DBCB-47FA-9D1E-1AA3C9A1C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809750"/>
            <a:ext cx="33337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8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h2">
            <a:extLst xmlns:a="http://schemas.openxmlformats.org/drawingml/2006/main">
              <a:ext uri="{FF2B5EF4-FFF2-40B4-BE49-F238E27FC236}">
                <a16:creationId xmlns:a16="http://schemas.microsoft.com/office/drawing/2014/main" id="{AAE63915-9CCA-4AD2-98D1-8E22822CB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143125"/>
            <a:ext cx="2876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F883D"/>
                </a:solidFill>
              </a:defRPr>
            </a:pPr>
            <a:r>
              <a:rPr sz="2025" b="1">
                <a:solidFill>
                  <a:srgbClr val="1F883D"/>
                </a:solidFill>
              </a:rPr>
              <a:t>P2｜持續成熟</a:t>
            </a:r>
          </a:p>
        </p:txBody>
      </p:sp>
      <p:sp>
        <p:nvSpPr>
          <p:cNvPr id="23" name="bullet-300">
            <a:extLst xmlns:a="http://schemas.openxmlformats.org/drawingml/2006/main">
              <a:ext uri="{FF2B5EF4-FFF2-40B4-BE49-F238E27FC236}">
                <a16:creationId xmlns:a16="http://schemas.microsoft.com/office/drawing/2014/main" id="{1AC75319-A361-4CAD-87C8-A4714A86D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8575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D1117"/>
                </a:solidFill>
              </a:defRPr>
            </a:pPr>
            <a:r>
              <a:rPr sz="1650" b="0">
                <a:solidFill>
                  <a:srgbClr val="0D1117"/>
                </a:solidFill>
              </a:rPr>
              <a:t>•  CSP nonce</a:t>
            </a:r>
          </a:p>
        </p:txBody>
      </p:sp>
      <p:sp>
        <p:nvSpPr>
          <p:cNvPr id="24" name="bullet-358">
            <a:extLst xmlns:a="http://schemas.openxmlformats.org/drawingml/2006/main">
              <a:ext uri="{FF2B5EF4-FFF2-40B4-BE49-F238E27FC236}">
                <a16:creationId xmlns:a16="http://schemas.microsoft.com/office/drawing/2014/main" id="{CC5850E6-4B0A-4E7E-8598-75CB95DC0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4099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D1117"/>
                </a:solidFill>
              </a:defRPr>
            </a:pPr>
            <a:r>
              <a:rPr sz="1650" b="0">
                <a:solidFill>
                  <a:srgbClr val="0D1117"/>
                </a:solidFill>
              </a:rPr>
              <a:t>•  容量與壓力測試</a:t>
            </a:r>
          </a:p>
        </p:txBody>
      </p:sp>
      <p:sp>
        <p:nvSpPr>
          <p:cNvPr id="25" name="bullet-416">
            <a:extLst xmlns:a="http://schemas.openxmlformats.org/drawingml/2006/main">
              <a:ext uri="{FF2B5EF4-FFF2-40B4-BE49-F238E27FC236}">
                <a16:creationId xmlns:a16="http://schemas.microsoft.com/office/drawing/2014/main" id="{FDF58C5C-1C8C-4D1C-972C-0232C65A7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9624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D1117"/>
                </a:solidFill>
              </a:defRPr>
            </a:pPr>
            <a:r>
              <a:rPr sz="1650" b="0">
                <a:solidFill>
                  <a:srgbClr val="0D1117"/>
                </a:solidFill>
              </a:rPr>
              <a:t>•  SLO／錯誤預算</a:t>
            </a:r>
          </a:p>
        </p:txBody>
      </p:sp>
      <p:sp>
        <p:nvSpPr>
          <p:cNvPr id="26" name="bullet-474">
            <a:extLst xmlns:a="http://schemas.openxmlformats.org/drawingml/2006/main">
              <a:ext uri="{FF2B5EF4-FFF2-40B4-BE49-F238E27FC236}">
                <a16:creationId xmlns:a16="http://schemas.microsoft.com/office/drawing/2014/main" id="{6A268033-F9A5-4612-8543-FBEE35754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5148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D1117"/>
                </a:solidFill>
              </a:defRPr>
            </a:pPr>
            <a:r>
              <a:rPr sz="1650" b="0">
                <a:solidFill>
                  <a:srgbClr val="0D1117"/>
                </a:solidFill>
              </a:rPr>
              <a:t>•  年度威脅模型</a:t>
            </a:r>
          </a:p>
        </p:txBody>
      </p:sp>
    </p:spTree>
    <p:extLst>
      <p:ext uri="{BB962C8B-B14F-4D97-AF65-F5344CB8AC3E}">
        <p14:creationId xmlns:p14="http://schemas.microsoft.com/office/powerpoint/2010/main" val="211770508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ection">
            <a:extLst xmlns:a="http://schemas.openxmlformats.org/drawingml/2006/main">
              <a:ext uri="{FF2B5EF4-FFF2-40B4-BE49-F238E27FC236}">
                <a16:creationId xmlns:a16="http://schemas.microsoft.com/office/drawing/2014/main" id="{04F6373D-D860-448B-9B9E-2486202D2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883D"/>
                </a:solidFill>
              </a:defRPr>
            </a:pPr>
            <a:r>
              <a:rPr sz="1050" b="1">
                <a:solidFill>
                  <a:srgbClr val="1F883D"/>
                </a:solidFill>
              </a:rPr>
              <a:t>DECISION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DFE89DE-5265-4787-8208-11835B631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1125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D1117"/>
                </a:solidFill>
              </a:defRPr>
            </a:pPr>
            <a:r>
              <a:rPr sz="3600" b="1">
                <a:solidFill>
                  <a:srgbClr val="0D1117"/>
                </a:solidFill>
              </a:rPr>
              <a:t>建議核准進入受控試營運／正式環境建置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A9590442-9BC6-4EE3-A319-19FDF68CE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7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77FD4D4B-D8B2-49E3-A218-68FD1C2AE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809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7606A"/>
                </a:solidFill>
              </a:defRPr>
            </a:pPr>
            <a:r>
              <a:rPr sz="900" b="0">
                <a:solidFill>
                  <a:srgbClr val="57606A"/>
                </a:solidFill>
              </a:rPr>
              <a:t>Hsu Family Portal · Open engineering review · 2026-07-24</a:t>
            </a:r>
          </a:p>
        </p:txBody>
      </p:sp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BC91323D-5B0D-49B3-961B-508D81DB3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704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606A"/>
                </a:solidFill>
              </a:defRPr>
            </a:pPr>
            <a:r>
              <a:rPr sz="1050" b="1">
                <a:solidFill>
                  <a:srgbClr val="57606A"/>
                </a:solidFill>
              </a:rPr>
              <a:t>10</a:t>
            </a:r>
          </a:p>
        </p:txBody>
      </p:sp>
      <p:sp>
        <p:nvSpPr>
          <p:cNvPr id="6" name="decision">
            <a:extLst xmlns:a="http://schemas.openxmlformats.org/drawingml/2006/main">
              <a:ext uri="{FF2B5EF4-FFF2-40B4-BE49-F238E27FC236}">
                <a16:creationId xmlns:a16="http://schemas.microsoft.com/office/drawing/2014/main" id="{0DD207F1-E3EF-4538-B94E-352A517A7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11125200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E4"/>
          </a:solidFill>
          <a:ln xmlns:a="http://schemas.openxmlformats.org/drawingml/2006/main" w="9525">
            <a:solidFill>
              <a:srgbClr val="2DA44E"/>
            </a:solidFill>
            <a:prstDash val="solid"/>
          </a:ln>
        </p:spPr>
      </p:sp>
      <p:sp>
        <p:nvSpPr>
          <p:cNvPr id="7" name="dt">
            <a:extLst xmlns:a="http://schemas.openxmlformats.org/drawingml/2006/main">
              <a:ext uri="{FF2B5EF4-FFF2-40B4-BE49-F238E27FC236}">
                <a16:creationId xmlns:a16="http://schemas.microsoft.com/office/drawing/2014/main" id="{5E556BE5-9A3C-49C2-AECC-495EC521A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47875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883D"/>
                </a:solidFill>
              </a:defRPr>
            </a:pPr>
            <a:r>
              <a:rPr sz="1650" b="1">
                <a:solidFill>
                  <a:srgbClr val="1F883D"/>
                </a:solidFill>
              </a:rPr>
              <a:t>建議決策</a:t>
            </a:r>
          </a:p>
        </p:txBody>
      </p:sp>
      <p:sp>
        <p:nvSpPr>
          <p:cNvPr id="8" name="dv">
            <a:extLst xmlns:a="http://schemas.openxmlformats.org/drawingml/2006/main">
              <a:ext uri="{FF2B5EF4-FFF2-40B4-BE49-F238E27FC236}">
                <a16:creationId xmlns:a16="http://schemas.microsoft.com/office/drawing/2014/main" id="{D241292A-B288-4581-9E45-EF59C762D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95550"/>
            <a:ext cx="10096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D1117"/>
                </a:solidFill>
              </a:defRPr>
            </a:pPr>
            <a:r>
              <a:rPr sz="2400" b="1">
                <a:solidFill>
                  <a:srgbClr val="0D1117"/>
                </a:solidFill>
              </a:rPr>
              <a:t>保留現有技術基線，核准進入環境建置；</a:t>
            </a:r>
          </a:p>
          <a:p xmlns:a="http://schemas.openxmlformats.org/drawingml/2006/main">
            <a:pPr algn="l">
              <a:defRPr sz="2400" b="1">
                <a:solidFill>
                  <a:srgbClr val="0D1117"/>
                </a:solidFill>
              </a:defRPr>
            </a:pPr>
            <a:r>
              <a:rPr sz="2400" b="1">
                <a:solidFill>
                  <a:srgbClr val="0D1117"/>
                </a:solidFill>
              </a:rPr>
              <a:t>以 P0 證據作為正式上線條件。</a:t>
            </a:r>
          </a:p>
        </p:txBody>
      </p:sp>
      <p:sp>
        <p:nvSpPr>
          <p:cNvPr id="9" name="why">
            <a:extLst xmlns:a="http://schemas.openxmlformats.org/drawingml/2006/main">
              <a:ext uri="{FF2B5EF4-FFF2-40B4-BE49-F238E27FC236}">
                <a16:creationId xmlns:a16="http://schemas.microsoft.com/office/drawing/2014/main" id="{99EC5063-FC3F-406E-B0B7-0F50A18C1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100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7606A"/>
                </a:solidFill>
              </a:defRPr>
            </a:pPr>
            <a:r>
              <a:rPr sz="1500" b="1">
                <a:solidFill>
                  <a:srgbClr val="57606A"/>
                </a:solidFill>
              </a:rPr>
              <a:t>為什麼</a:t>
            </a:r>
          </a:p>
        </p:txBody>
      </p:sp>
      <p:sp>
        <p:nvSpPr>
          <p:cNvPr id="10" name="bullet-445">
            <a:extLst xmlns:a="http://schemas.openxmlformats.org/drawingml/2006/main">
              <a:ext uri="{FF2B5EF4-FFF2-40B4-BE49-F238E27FC236}">
                <a16:creationId xmlns:a16="http://schemas.microsoft.com/office/drawing/2014/main" id="{3686A534-0CC4-49E2-80B3-763ED8B02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38625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D1117"/>
                </a:solidFill>
              </a:defRPr>
            </a:pPr>
            <a:r>
              <a:rPr sz="1650" b="0">
                <a:solidFill>
                  <a:srgbClr val="0D1117"/>
                </a:solidFill>
              </a:rPr>
              <a:t>•  程式碼層 Critical／High 風險已處理並由 CI 驗證</a:t>
            </a:r>
          </a:p>
        </p:txBody>
      </p:sp>
      <p:sp>
        <p:nvSpPr>
          <p:cNvPr id="11" name="bullet-500">
            <a:extLst xmlns:a="http://schemas.openxmlformats.org/drawingml/2006/main">
              <a:ext uri="{FF2B5EF4-FFF2-40B4-BE49-F238E27FC236}">
                <a16:creationId xmlns:a16="http://schemas.microsoft.com/office/drawing/2014/main" id="{7CF6399D-CAEC-4028-8CDB-30F1B13E5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D1117"/>
                </a:solidFill>
              </a:defRPr>
            </a:pPr>
            <a:r>
              <a:rPr sz="1650" b="0">
                <a:solidFill>
                  <a:srgbClr val="0D1117"/>
                </a:solidFill>
              </a:rPr>
              <a:t>•  架構可維護、安全控制可追溯、部署可重現</a:t>
            </a:r>
          </a:p>
        </p:txBody>
      </p:sp>
      <p:sp>
        <p:nvSpPr>
          <p:cNvPr id="12" name="bullet-555">
            <a:extLst xmlns:a="http://schemas.openxmlformats.org/drawingml/2006/main">
              <a:ext uri="{FF2B5EF4-FFF2-40B4-BE49-F238E27FC236}">
                <a16:creationId xmlns:a16="http://schemas.microsoft.com/office/drawing/2014/main" id="{742461E3-BC9C-4F86-BD78-D6E1E2DA3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86375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F883D"/>
                </a:solidFill>
              </a:defRPr>
            </a:pPr>
            <a:r>
              <a:rPr sz="1650" b="0">
                <a:solidFill>
                  <a:srgbClr val="1F883D"/>
                </a:solidFill>
              </a:rPr>
              <a:t>•  下一步是補齊企業平台與治理，而不是重新開發</a:t>
            </a:r>
          </a:p>
        </p:txBody>
      </p:sp>
    </p:spTree>
    <p:extLst>
      <p:ext uri="{BB962C8B-B14F-4D97-AF65-F5344CB8AC3E}">
        <p14:creationId xmlns:p14="http://schemas.microsoft.com/office/powerpoint/2010/main" val="200449310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2026-07-23T17:03:42.7590000Z</dcterms:created>
  <dcterms:modified xsi:type="dcterms:W3CDTF">2026-07-23T17:03:42.7590000Z</dcterms:modified>
</coreProperties>
</file>